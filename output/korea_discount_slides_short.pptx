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  <p:sldId id="264" r:id="rId11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003"/>
    <p:restoredTop sz="94676"/>
  </p:normalViewPr>
  <p:slideViewPr>
    <p:cSldViewPr snapToGrid="0" snapToObjects="1">
      <p:cViewPr varScale="1">
        <p:scale>
          <a:sx n="113" d="100"/>
          <a:sy n="113" d="100"/>
        </p:scale>
        <p:origin x="712" y="20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27432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88136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FFFFFF"/>
                </a:solidFill>
                <a:latin typeface="Calibri"/>
              </a:rPr>
              <a:t>Corporate Governance Reform and the Korea Discount</a:t>
            </a:r>
          </a:p>
          <a:p>
            <a:pPr>
              <a:spcBef>
                <a:spcPts val="600"/>
              </a:spcBef>
            </a:pPr>
            <a:r>
              <a:rPr sz="2100">
                <a:solidFill>
                  <a:srgbClr val="D9D9D9"/>
                </a:solidFill>
                <a:latin typeface="Calibri"/>
              </a:rPr>
              <a:t>Lessons from Japan's Reform Experience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926080"/>
            <a:ext cx="108813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spcBef>
                <a:spcPts val="800"/>
              </a:spcBef>
            </a:pPr>
            <a:r>
              <a:rPr sz="1400" b="1">
                <a:solidFill>
                  <a:srgbClr val="000000"/>
                </a:solidFill>
                <a:latin typeface="Calibri"/>
              </a:rPr>
              <a:t>Setting:  </a:t>
            </a:r>
            <a:r>
              <a:rPr sz="1400">
                <a:solidFill>
                  <a:srgbClr val="000000"/>
                </a:solidFill>
                <a:latin typeface="Calibri"/>
              </a:rPr>
              <a:t>Monthly index P/B ratios: KOSPI · TOPIX · S&amp;P 500 · MSCI EM  |  Jan 2004 – Dec 2024  |  1,008 obs.</a:t>
            </a:r>
          </a:p>
          <a:p>
            <a:pPr>
              <a:spcBef>
                <a:spcPts val="800"/>
              </a:spcBef>
            </a:pPr>
            <a:r>
              <a:rPr sz="1400" b="1">
                <a:solidFill>
                  <a:srgbClr val="000000"/>
                </a:solidFill>
                <a:latin typeface="Calibri"/>
              </a:rPr>
              <a:t>Finding:  </a:t>
            </a:r>
            <a:r>
              <a:rPr sz="1400">
                <a:solidFill>
                  <a:srgbClr val="000000"/>
                </a:solidFill>
                <a:latin typeface="Calibri"/>
              </a:rPr>
              <a:t>KOSPI P/B averages –0.177× below TOPIX (t = –3.23) and –0.601× below MSCI EM (t = –10.30)</a:t>
            </a:r>
          </a:p>
          <a:p>
            <a:pPr>
              <a:spcBef>
                <a:spcPts val="800"/>
              </a:spcBef>
            </a:pPr>
            <a:r>
              <a:rPr sz="1400" b="1">
                <a:solidFill>
                  <a:srgbClr val="000000"/>
                </a:solidFill>
                <a:latin typeface="Calibri"/>
              </a:rPr>
              <a:t>Approach:  </a:t>
            </a:r>
            <a:r>
              <a:rPr sz="1400">
                <a:solidFill>
                  <a:srgbClr val="000000"/>
                </a:solidFill>
                <a:latin typeface="Calibri"/>
              </a:rPr>
              <a:t>Japan's three governance reforms as policy benchmarks; event-window, panel OLS, synthetic control</a:t>
            </a:r>
          </a:p>
          <a:p>
            <a:pPr>
              <a:spcBef>
                <a:spcPts val="800"/>
              </a:spcBef>
            </a:pPr>
            <a:r>
              <a:rPr sz="1400" b="1">
                <a:solidFill>
                  <a:srgbClr val="000000"/>
                </a:solidFill>
                <a:latin typeface="Calibri"/>
              </a:rPr>
              <a:t>Caveat:  </a:t>
            </a:r>
            <a:r>
              <a:rPr sz="1400">
                <a:solidFill>
                  <a:srgbClr val="000000"/>
                </a:solidFill>
                <a:latin typeface="Calibri"/>
              </a:rPr>
              <a:t>N = 4 country clusters; saturated event-window design — descriptive, not causally identified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748272"/>
            <a:ext cx="12188952" cy="4572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37160"/>
            <a:ext cx="11155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Calibri"/>
              </a:rPr>
              <a:t>The Korea Discount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77240"/>
            <a:ext cx="11155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595959"/>
                </a:solidFill>
                <a:latin typeface="Calibri"/>
              </a:rPr>
              <a:t>KOSPI equities have persistently underperformed comparable benchmarks for over two decades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748272"/>
            <a:ext cx="12188952" cy="4572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1234440"/>
            <a:ext cx="11155680" cy="34496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>
              <a:spcBef>
                <a:spcPts val="0"/>
              </a:spcBef>
            </a:pPr>
            <a:r>
              <a:rPr sz="1600" b="1" i="0" dirty="0">
                <a:solidFill>
                  <a:srgbClr val="000000"/>
                </a:solidFill>
                <a:latin typeface="Calibri"/>
              </a:rPr>
              <a:t>Magnitude of the discount — 2004–2024 average P/B ratios</a:t>
            </a:r>
            <a:endParaRPr lang="en-US" sz="1600" b="1" i="0" dirty="0">
              <a:solidFill>
                <a:srgbClr val="000000"/>
              </a:solidFill>
              <a:latin typeface="Calibri"/>
            </a:endParaRPr>
          </a:p>
          <a:p>
            <a:pPr>
              <a:spcBef>
                <a:spcPts val="0"/>
              </a:spcBef>
            </a:pPr>
            <a:endParaRPr lang="en-US" sz="1600" b="1" dirty="0">
              <a:solidFill>
                <a:srgbClr val="000000"/>
              </a:solidFill>
              <a:latin typeface="Calibri"/>
            </a:endParaRPr>
          </a:p>
          <a:p>
            <a:pPr>
              <a:spcBef>
                <a:spcPts val="0"/>
              </a:spcBef>
            </a:pPr>
            <a:endParaRPr lang="en-US" sz="1600" b="1" i="0" dirty="0">
              <a:solidFill>
                <a:srgbClr val="000000"/>
              </a:solidFill>
              <a:latin typeface="Calibri"/>
            </a:endParaRPr>
          </a:p>
          <a:p>
            <a:pPr>
              <a:spcBef>
                <a:spcPts val="0"/>
              </a:spcBef>
            </a:pPr>
            <a:endParaRPr lang="en-US" sz="1600" b="1" dirty="0">
              <a:solidFill>
                <a:srgbClr val="000000"/>
              </a:solidFill>
              <a:latin typeface="Calibri"/>
            </a:endParaRPr>
          </a:p>
          <a:p>
            <a:pPr>
              <a:spcBef>
                <a:spcPts val="0"/>
              </a:spcBef>
            </a:pPr>
            <a:endParaRPr lang="en-US" sz="1600" b="1" i="0" dirty="0">
              <a:solidFill>
                <a:srgbClr val="000000"/>
              </a:solidFill>
              <a:latin typeface="Calibri"/>
            </a:endParaRPr>
          </a:p>
          <a:p>
            <a:pPr>
              <a:spcBef>
                <a:spcPts val="0"/>
              </a:spcBef>
            </a:pPr>
            <a:endParaRPr lang="en-US" sz="1600" b="1" dirty="0">
              <a:solidFill>
                <a:srgbClr val="000000"/>
              </a:solidFill>
              <a:latin typeface="Calibri"/>
            </a:endParaRPr>
          </a:p>
          <a:p>
            <a:pPr>
              <a:spcBef>
                <a:spcPts val="0"/>
              </a:spcBef>
            </a:pPr>
            <a:endParaRPr sz="1600" b="1" i="0" dirty="0">
              <a:solidFill>
                <a:srgbClr val="000000"/>
              </a:solidFill>
              <a:latin typeface="Calibri"/>
            </a:endParaRPr>
          </a:p>
          <a:p>
            <a:pPr>
              <a:spcBef>
                <a:spcPts val="400"/>
              </a:spcBef>
            </a:pPr>
            <a:r>
              <a:rPr sz="1600" b="1" i="0" dirty="0">
                <a:solidFill>
                  <a:srgbClr val="000000"/>
                </a:solidFill>
                <a:latin typeface="Calibri"/>
              </a:rPr>
              <a:t>
Three structural channels</a:t>
            </a:r>
          </a:p>
          <a:p>
            <a:pPr lvl="1">
              <a:spcBef>
                <a:spcPts val="300"/>
              </a:spcBef>
            </a:pPr>
            <a:r>
              <a:rPr sz="1400" b="0" i="0" dirty="0">
                <a:solidFill>
                  <a:srgbClr val="000000"/>
                </a:solidFill>
                <a:latin typeface="Calibri"/>
              </a:rPr>
              <a:t>•  Chaebol opacity &amp; agency costs — control-to-cash-flow ratio ≈ 2:1; tunneling; 60% inheritance tax incentive to suppress share prices</a:t>
            </a:r>
          </a:p>
          <a:p>
            <a:pPr lvl="1">
              <a:spcBef>
                <a:spcPts val="300"/>
              </a:spcBef>
            </a:pPr>
            <a:r>
              <a:rPr sz="1400" b="0" i="0" dirty="0">
                <a:solidFill>
                  <a:srgbClr val="000000"/>
                </a:solidFill>
                <a:latin typeface="Calibri"/>
              </a:rPr>
              <a:t>•  Minority-shareholder recourse deficit — civil-law tradition, weak derivative suit rights, incomplete Stewardship Code</a:t>
            </a:r>
          </a:p>
          <a:p>
            <a:pPr lvl="1">
              <a:spcBef>
                <a:spcPts val="300"/>
              </a:spcBef>
            </a:pPr>
            <a:r>
              <a:rPr sz="1400" b="0" i="0" dirty="0">
                <a:solidFill>
                  <a:srgbClr val="000000"/>
                </a:solidFill>
                <a:latin typeface="Calibri"/>
              </a:rPr>
              <a:t>•  Geopolitical risk premium — six North Korean nuclear tests; priced as a structural level discount, not event spikes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861144"/>
            <a:ext cx="2651760" cy="42976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66420" y="1911944"/>
            <a:ext cx="2524760" cy="3662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Benchmark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0" y="1861144"/>
            <a:ext cx="2468880" cy="42976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263900" y="1911944"/>
            <a:ext cx="2341880" cy="3662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Mean gap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760720" y="1861144"/>
            <a:ext cx="2148840" cy="42976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824220" y="1911944"/>
            <a:ext cx="2021840" cy="3662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t-stat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55279" y="1861144"/>
            <a:ext cx="1874519" cy="42976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018779" y="1911944"/>
            <a:ext cx="1747519" cy="3662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95% CI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875520" y="1861144"/>
            <a:ext cx="2011680" cy="42976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939020" y="1911944"/>
            <a:ext cx="1884680" cy="3662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KOSPI sub-period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2290912"/>
            <a:ext cx="2651760" cy="4297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66420" y="2341712"/>
            <a:ext cx="2524760" cy="3662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00000"/>
                </a:solidFill>
                <a:latin typeface="Calibri"/>
              </a:rPr>
              <a:t>vs. TOPIX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0" y="2290912"/>
            <a:ext cx="2468880" cy="4297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263900" y="2341712"/>
            <a:ext cx="2341880" cy="3662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–0.177×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760720" y="2290912"/>
            <a:ext cx="2148840" cy="4297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824220" y="2341712"/>
            <a:ext cx="2021840" cy="3662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–3.23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955279" y="2290912"/>
            <a:ext cx="1874519" cy="4297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018779" y="2341712"/>
            <a:ext cx="1747519" cy="3662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[–0.284×, –0.069×]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875520" y="2290912"/>
            <a:ext cx="2011680" cy="4297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939020" y="2341712"/>
            <a:ext cx="1884680" cy="3662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502920" y="2720680"/>
            <a:ext cx="2651760" cy="429768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566420" y="2771480"/>
            <a:ext cx="2524760" cy="3662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00000"/>
                </a:solidFill>
                <a:latin typeface="Calibri"/>
              </a:rPr>
              <a:t>vs. MSCI EM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200400" y="2720680"/>
            <a:ext cx="2468880" cy="429768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3263900" y="2771480"/>
            <a:ext cx="2341880" cy="3662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–0.601×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760720" y="2720680"/>
            <a:ext cx="2148840" cy="429768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5824220" y="2771480"/>
            <a:ext cx="2021840" cy="3662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–10.30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955279" y="2720680"/>
            <a:ext cx="1874519" cy="429768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8018779" y="2771480"/>
            <a:ext cx="1747519" cy="3662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[–0.716×, –0.486×]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875520" y="2720680"/>
            <a:ext cx="2011680" cy="429768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9939020" y="2771480"/>
            <a:ext cx="1884680" cy="3662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502920" y="3150448"/>
            <a:ext cx="2651760" cy="4297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566420" y="3201248"/>
            <a:ext cx="2524760" cy="3662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00000"/>
                </a:solidFill>
                <a:latin typeface="Calibri"/>
              </a:rPr>
              <a:t>vs. S&amp;P 500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200400" y="3150448"/>
            <a:ext cx="2468880" cy="4297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3263900" y="3201248"/>
            <a:ext cx="2341880" cy="3662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–1.90×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760720" y="3150448"/>
            <a:ext cx="2148840" cy="4297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5824220" y="3201248"/>
            <a:ext cx="2021840" cy="3662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955279" y="3150448"/>
            <a:ext cx="1874519" cy="4297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8018779" y="3201248"/>
            <a:ext cx="1747519" cy="3662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45" name="Rectangle 44"/>
          <p:cNvSpPr/>
          <p:nvPr/>
        </p:nvSpPr>
        <p:spPr>
          <a:xfrm>
            <a:off x="9875520" y="3150448"/>
            <a:ext cx="2011680" cy="4297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9939020" y="3201248"/>
            <a:ext cx="1884680" cy="3662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502920" y="4682578"/>
            <a:ext cx="1115568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 dirty="0">
                <a:solidFill>
                  <a:srgbClr val="595959"/>
                </a:solidFill>
                <a:latin typeface="Calibri"/>
              </a:rPr>
              <a:t>KOSPI trajectory: 1.36× (2004–2013)  →  1.02× (2014–2022)  →  0.93× (2023–2024)  |  TOPIX rebounded to 1.36× post-2023 TSE reform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37160"/>
            <a:ext cx="11155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Calibri"/>
              </a:rPr>
              <a:t>Figure 1: Index-Level P/B Ratios, 2004–2024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77240"/>
            <a:ext cx="11155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595959"/>
                </a:solidFill>
                <a:latin typeface="Calibri"/>
              </a:rPr>
              <a:t>Dashed verticals mark Japan's three reform dates; Korea discount persists and widens post-2023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748272"/>
            <a:ext cx="12188952" cy="4572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figure1_pb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234440"/>
            <a:ext cx="11612880" cy="539496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37160"/>
            <a:ext cx="11155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Calibri"/>
              </a:rPr>
              <a:t>Japan's Governance Reform Program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77240"/>
            <a:ext cx="11155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595959"/>
                </a:solidFill>
                <a:latin typeface="Calibri"/>
              </a:rPr>
              <a:t>Three staged interventions — used as policy benchmarks, not clean natural experiments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748272"/>
            <a:ext cx="12188952" cy="4572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02920" y="1234440"/>
            <a:ext cx="1188720" cy="15087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737360" y="1234440"/>
            <a:ext cx="1965960" cy="150876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749039" y="1234440"/>
            <a:ext cx="8229600" cy="150876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66420" y="1323340"/>
            <a:ext cx="1061720" cy="138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FFFFFF"/>
                </a:solidFill>
                <a:latin typeface="Calibri"/>
              </a:rPr>
              <a:t>Feb 2014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00860" y="1323340"/>
            <a:ext cx="1838960" cy="138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FFFFFF"/>
                </a:solidFill>
                <a:latin typeface="Calibri"/>
              </a:rPr>
              <a:t>Stewardship Code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12539" y="1323340"/>
            <a:ext cx="8102600" cy="138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000000"/>
                </a:solidFill>
                <a:latin typeface="Calibri"/>
              </a:rPr>
              <a:t>Required institutional investors to adopt engagement policies and disclose voting records. Accelerated keiretsu cross-shareholding unwinding (Miyajima 2023). High compliance under comply-or-explain.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2743200"/>
            <a:ext cx="1188720" cy="15087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1737360" y="2743200"/>
            <a:ext cx="1965960" cy="150876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749039" y="2743200"/>
            <a:ext cx="8229600" cy="1508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66420" y="2832100"/>
            <a:ext cx="1061720" cy="138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FFFFFF"/>
                </a:solidFill>
                <a:latin typeface="Calibri"/>
              </a:rPr>
              <a:t>Jun 2015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00860" y="2832100"/>
            <a:ext cx="1838960" cy="138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FFFFFF"/>
                </a:solidFill>
                <a:latin typeface="Calibri"/>
              </a:rPr>
              <a:t>Corporate Governance Code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12539" y="2832100"/>
            <a:ext cx="8102600" cy="138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000000"/>
                </a:solidFill>
                <a:latin typeface="Calibri"/>
              </a:rPr>
              <a:t>Required all TSE-listed firms to comply or explain against governance principles. Mandated ≥ 2 independent directors. By 2017, &gt;90% of JPX-Nikkei 400 complied.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4251960"/>
            <a:ext cx="1188720" cy="15087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1737360" y="4251960"/>
            <a:ext cx="1965960" cy="150876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3749039" y="4251960"/>
            <a:ext cx="8229600" cy="150876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66420" y="4340860"/>
            <a:ext cx="1061720" cy="138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FFFFFF"/>
                </a:solidFill>
                <a:latin typeface="Calibri"/>
              </a:rPr>
              <a:t>Mar 2023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800860" y="4340860"/>
            <a:ext cx="1838960" cy="138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FFFFFF"/>
                </a:solidFill>
                <a:latin typeface="Calibri"/>
              </a:rPr>
              <a:t>TSE P/B Reform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12539" y="4340860"/>
            <a:ext cx="8102600" cy="138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000000"/>
                </a:solidFill>
                <a:latin typeface="Calibri"/>
              </a:rPr>
              <a:t>Firms below 1.0× book value required to disclose capital efficiency plans. TOPIX P/B rose from ≈1.0× to ≈1.36×. KOSPI remained at ≈0.93× — gap widened. Korea's Value-Up Program (2024) mirrors this but remains voluntary.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5806440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i="1">
                <a:solidFill>
                  <a:srgbClr val="595959"/>
                </a:solidFill>
              </a:rPr>
              <a:t>Korea comparison: adopted Stewardship Code Dec 2016 (weaker enforcement) and Value-Up Program 2024 (voluntary) — a partial, not strictly never-treated, comparison unit.  All reform dates locked in config.py before any data transformation.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37160"/>
            <a:ext cx="11155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Calibri"/>
              </a:rPr>
              <a:t>Data &amp; Empirical Strategy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48272"/>
            <a:ext cx="12188952" cy="4572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1234440"/>
            <a:ext cx="5303520" cy="5349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>
              <a:spcBef>
                <a:spcPts val="0"/>
              </a:spcBef>
            </a:pPr>
            <a:r>
              <a:rPr sz="1700" b="1" i="0" dirty="0">
                <a:solidFill>
                  <a:srgbClr val="000000"/>
                </a:solidFill>
                <a:latin typeface="Calibri"/>
              </a:rPr>
              <a:t>Data</a:t>
            </a:r>
          </a:p>
          <a:p>
            <a:pPr lvl="1">
              <a:spcBef>
                <a:spcPts val="300"/>
              </a:spcBef>
            </a:pPr>
            <a:r>
              <a:rPr sz="1300" b="0" i="0" dirty="0">
                <a:solidFill>
                  <a:srgbClr val="000000"/>
                </a:solidFill>
                <a:latin typeface="Calibri"/>
              </a:rPr>
              <a:t>•  Bloomberg PX_TO_BOOK_RATIO: monthly index P/B</a:t>
            </a:r>
          </a:p>
          <a:p>
            <a:pPr lvl="1">
              <a:spcBef>
                <a:spcPts val="300"/>
              </a:spcBef>
            </a:pPr>
            <a:r>
              <a:rPr sz="1300" b="0" i="0" dirty="0">
                <a:solidFill>
                  <a:srgbClr val="000000"/>
                </a:solidFill>
                <a:latin typeface="Calibri"/>
              </a:rPr>
              <a:t>•  KOSPI · TOPIX · S&amp;P 500 · MSCI EM</a:t>
            </a:r>
          </a:p>
          <a:p>
            <a:pPr lvl="1">
              <a:spcBef>
                <a:spcPts val="300"/>
              </a:spcBef>
            </a:pPr>
            <a:r>
              <a:rPr sz="1300" b="0" i="0" dirty="0">
                <a:solidFill>
                  <a:srgbClr val="000000"/>
                </a:solidFill>
                <a:latin typeface="Calibri"/>
              </a:rPr>
              <a:t>•  Jan 2004 – Dec 2024  (1,008 country-months)</a:t>
            </a:r>
          </a:p>
          <a:p>
            <a:pPr lvl="1">
              <a:spcBef>
                <a:spcPts val="300"/>
              </a:spcBef>
            </a:pPr>
            <a:r>
              <a:rPr sz="1300" b="0" i="0" dirty="0">
                <a:solidFill>
                  <a:srgbClr val="000000"/>
                </a:solidFill>
                <a:latin typeface="Calibri"/>
              </a:rPr>
              <a:t>•  P/B preferred to P/E: less cyclically volatile; no sign-change in recessions; directly targeted by TSE reform</a:t>
            </a:r>
          </a:p>
          <a:p>
            <a:pPr lvl="1">
              <a:spcBef>
                <a:spcPts val="300"/>
              </a:spcBef>
            </a:pPr>
            <a:r>
              <a:rPr sz="1300" b="0" i="0" dirty="0">
                <a:solidFill>
                  <a:srgbClr val="000000"/>
                </a:solidFill>
                <a:latin typeface="Calibri"/>
              </a:rPr>
              <a:t>•  GPR index (Caldara–Iacoviello) + GPRNK sub-index for North Korea escalation</a:t>
            </a:r>
          </a:p>
          <a:p>
            <a:pPr lvl="1">
              <a:spcBef>
                <a:spcPts val="300"/>
              </a:spcBef>
            </a:pPr>
            <a:r>
              <a:rPr sz="1300" b="0" i="0" dirty="0">
                <a:solidFill>
                  <a:srgbClr val="000000"/>
                </a:solidFill>
                <a:latin typeface="Calibri"/>
              </a:rPr>
              <a:t>•  No missing data across all four series</a:t>
            </a:r>
          </a:p>
        </p:txBody>
      </p:sp>
      <p:sp>
        <p:nvSpPr>
          <p:cNvPr id="6" name="Rectangle 5"/>
          <p:cNvSpPr/>
          <p:nvPr/>
        </p:nvSpPr>
        <p:spPr>
          <a:xfrm>
            <a:off x="5989320" y="1234440"/>
            <a:ext cx="12700" cy="534924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172200" y="1234440"/>
            <a:ext cx="5577840" cy="5349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>
              <a:spcBef>
                <a:spcPts val="0"/>
              </a:spcBef>
            </a:pPr>
            <a:r>
              <a:rPr sz="1700" b="1" i="0" dirty="0">
                <a:solidFill>
                  <a:srgbClr val="000000"/>
                </a:solidFill>
                <a:latin typeface="Calibri"/>
              </a:rPr>
              <a:t>Three Empirical Designs</a:t>
            </a:r>
          </a:p>
          <a:p>
            <a:pPr>
              <a:spcBef>
                <a:spcPts val="800"/>
              </a:spcBef>
            </a:pPr>
            <a:r>
              <a:rPr sz="1400" b="1" i="0" dirty="0">
                <a:solidFill>
                  <a:srgbClr val="000000"/>
                </a:solidFill>
                <a:latin typeface="Calibri"/>
              </a:rPr>
              <a:t>Event-window analysis  [primary]</a:t>
            </a:r>
          </a:p>
          <a:p>
            <a:pPr lvl="1">
              <a:spcBef>
                <a:spcPts val="200"/>
              </a:spcBef>
            </a:pPr>
            <a:r>
              <a:rPr sz="1300" b="0" i="0" dirty="0">
                <a:solidFill>
                  <a:srgbClr val="000000"/>
                </a:solidFill>
                <a:latin typeface="Calibri"/>
              </a:rPr>
              <a:t>Linear pre-event trend extracted over [–36, –1] months; CAR = cumulative abnormal KOSPI–TOPIX spread over [–12, +24]. Saturated design → no SEs. Results are descriptive only.</a:t>
            </a:r>
          </a:p>
          <a:p>
            <a:pPr>
              <a:spcBef>
                <a:spcPts val="800"/>
              </a:spcBef>
            </a:pPr>
            <a:r>
              <a:rPr sz="1400" b="1" i="0" dirty="0">
                <a:solidFill>
                  <a:srgbClr val="000000"/>
                </a:solidFill>
                <a:latin typeface="Calibri"/>
              </a:rPr>
              <a:t>Panel OLS  [corroborating]</a:t>
            </a:r>
          </a:p>
          <a:p>
            <a:pPr lvl="1">
              <a:spcBef>
                <a:spcPts val="200"/>
              </a:spcBef>
            </a:pPr>
            <a:r>
              <a:rPr sz="1300" b="0" i="0" dirty="0">
                <a:solidFill>
                  <a:srgbClr val="000000"/>
                </a:solidFill>
                <a:latin typeface="Calibri"/>
              </a:rPr>
              <a:t>Two-way FE (country + time); reform × Japan interaction terms. Wild-bootstrap p-values (999 Rademacher draws, N = 4 clusters). Results: p = 0.625 / 0.375 / 0.500 — no robust causal evidence.</a:t>
            </a:r>
          </a:p>
          <a:p>
            <a:pPr>
              <a:spcBef>
                <a:spcPts val="800"/>
              </a:spcBef>
            </a:pPr>
            <a:r>
              <a:rPr sz="1400" b="1" i="0" dirty="0">
                <a:solidFill>
                  <a:srgbClr val="000000"/>
                </a:solidFill>
                <a:latin typeface="Calibri"/>
              </a:rPr>
              <a:t>Synthetic control  [2023 only]</a:t>
            </a:r>
          </a:p>
          <a:p>
            <a:pPr lvl="1">
              <a:spcBef>
                <a:spcPts val="200"/>
              </a:spcBef>
            </a:pPr>
            <a:r>
              <a:rPr sz="1300" b="0" i="0" dirty="0">
                <a:solidFill>
                  <a:srgbClr val="000000"/>
                </a:solidFill>
                <a:latin typeface="Calibri"/>
              </a:rPr>
              <a:t>Convex combination of regional EM donor markets on demeaned P/B. Full weight to MSCI EM Asia (w = 1.0); pre-treatment RMSPE = 0.1451. Post-reform gap fades rather than widens — no sustained idiosyncratic premium.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37160"/>
            <a:ext cx="11155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Calibri"/>
              </a:rPr>
              <a:t>Results: Event-Window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77240"/>
            <a:ext cx="11155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595959"/>
                </a:solidFill>
                <a:latin typeface="Calibri"/>
              </a:rPr>
              <a:t>Cumulative abnormal KOSPI–TOPIX P/B spread; positive = discount narrowed vs. pre-event trend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748272"/>
            <a:ext cx="12188952" cy="4572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figure2_event_stud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234440"/>
            <a:ext cx="6858000" cy="53492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315200" y="1234440"/>
            <a:ext cx="4572000" cy="5349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spcBef>
                <a:spcPts val="0"/>
              </a:spcBef>
            </a:pPr>
            <a:r>
              <a:rPr sz="1500" b="1" i="0">
                <a:solidFill>
                  <a:srgbClr val="000000"/>
                </a:solidFill>
                <a:latin typeface="Calibri"/>
              </a:rPr>
              <a:t>Three cohort CARs at τ = +24</a:t>
            </a:r>
          </a:p>
          <a:p>
            <a:pPr>
              <a:spcBef>
                <a:spcPts val="1000"/>
              </a:spcBef>
            </a:pPr>
            <a:r>
              <a:rPr sz="1400" b="1" i="0">
                <a:solidFill>
                  <a:srgbClr val="000000"/>
                </a:solidFill>
                <a:latin typeface="Calibri"/>
              </a:rPr>
              <a:t>2014 Stewardship Code  |  CAR ≈ +4.29</a:t>
            </a:r>
          </a:p>
          <a:p>
            <a:pPr lvl="1">
              <a:spcBef>
                <a:spcPts val="100"/>
              </a:spcBef>
            </a:pPr>
            <a:r>
              <a:rPr sz="1200" b="0" i="0">
                <a:solidFill>
                  <a:srgbClr val="595959"/>
                </a:solidFill>
                <a:latin typeface="Calibri"/>
              </a:rPr>
              <a:t>Spread rose vs. pre-event trend. Overlaps 2015 window — not independent.</a:t>
            </a:r>
          </a:p>
          <a:p>
            <a:pPr>
              <a:spcBef>
                <a:spcPts val="1000"/>
              </a:spcBef>
            </a:pPr>
            <a:r>
              <a:rPr sz="1400" b="1" i="0">
                <a:solidFill>
                  <a:srgbClr val="000000"/>
                </a:solidFill>
                <a:latin typeface="Calibri"/>
              </a:rPr>
              <a:t>2015 Corp. Governance Code  |  CAR ≈ +7.83</a:t>
            </a:r>
          </a:p>
          <a:p>
            <a:pPr lvl="1">
              <a:spcBef>
                <a:spcPts val="100"/>
              </a:spcBef>
            </a:pPr>
            <a:r>
              <a:rPr sz="1200" b="0" i="0">
                <a:solidFill>
                  <a:srgbClr val="595959"/>
                </a:solidFill>
                <a:latin typeface="Calibri"/>
              </a:rPr>
              <a:t>Largest cumulative movement. Overlaps 2014 window.</a:t>
            </a:r>
          </a:p>
          <a:p>
            <a:pPr>
              <a:spcBef>
                <a:spcPts val="1000"/>
              </a:spcBef>
            </a:pPr>
            <a:r>
              <a:rPr sz="1400" b="1" i="0">
                <a:solidFill>
                  <a:srgbClr val="000000"/>
                </a:solidFill>
                <a:latin typeface="Calibri"/>
              </a:rPr>
              <a:t>2023 TSE P/B Reform  |  CAR ≈ –6.48</a:t>
            </a:r>
          </a:p>
          <a:p>
            <a:pPr lvl="1">
              <a:spcBef>
                <a:spcPts val="100"/>
              </a:spcBef>
            </a:pPr>
            <a:r>
              <a:rPr sz="1200" b="0" i="0">
                <a:solidFill>
                  <a:srgbClr val="595959"/>
                </a:solidFill>
                <a:latin typeface="Calibri"/>
              </a:rPr>
              <a:t>Korea–Japan gap deepened relative to pre-event trend after reform. Clearest and most policy-relevant cohort.</a:t>
            </a:r>
          </a:p>
          <a:p>
            <a:pPr>
              <a:spcBef>
                <a:spcPts val="1000"/>
              </a:spcBef>
            </a:pPr>
            <a:r>
              <a:rPr sz="1200" b="0" i="1">
                <a:solidFill>
                  <a:srgbClr val="595959"/>
                </a:solidFill>
                <a:latin typeface="Calibri"/>
              </a:rPr>
              <a:t>
Critical caveat: design is saturated; no confidence intervals; 2014 and 2015 cohorts overlap. These are descriptive spread movements, not causal treatment effects.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37160"/>
            <a:ext cx="11155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Calibri"/>
              </a:rPr>
              <a:t>Results: Panel OLS &amp; Synthetic Control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48272"/>
            <a:ext cx="12188952" cy="4572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1234440"/>
            <a:ext cx="5486400" cy="5349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spcBef>
                <a:spcPts val="0"/>
              </a:spcBef>
            </a:pPr>
            <a:r>
              <a:rPr sz="1600" b="1" i="0">
                <a:solidFill>
                  <a:srgbClr val="000000"/>
                </a:solidFill>
                <a:latin typeface="Calibri"/>
              </a:rPr>
              <a:t>Panel OLS — two-way FE + reform × Japan</a:t>
            </a:r>
          </a:p>
          <a:p>
            <a:pPr>
              <a:spcBef>
                <a:spcPts val="200"/>
              </a:spcBef>
            </a:pPr>
            <a:r>
              <a:rPr sz="1200" b="0" i="1">
                <a:solidFill>
                  <a:srgbClr val="595959"/>
                </a:solidFill>
                <a:latin typeface="Calibri"/>
              </a:rPr>
              <a:t>Wild-bootstrap p-values (999 Rademacher draws, N = 4 clusters)</a:t>
            </a:r>
          </a:p>
          <a:p>
            <a:pPr>
              <a:spcBef>
                <a:spcPts val="600"/>
              </a:spcBef>
            </a:pPr>
            <a:r>
              <a:rPr sz="1300" b="0" i="0">
                <a:solidFill>
                  <a:srgbClr val="000000"/>
                </a:solidFill>
                <a:latin typeface="Calibri"/>
              </a:rPr>
              <a:t>
2 of 3 point estimates are negative.
None reaches p &lt; 0.05 under wild bootstrap.
N = 4 clusters → severely limited power.
Interpret as: no robust causal evidence.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2148840"/>
            <a:ext cx="3108960" cy="438912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66420" y="2199640"/>
            <a:ext cx="2981960" cy="3754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Interaction term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0" y="2148840"/>
            <a:ext cx="1005840" cy="438912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721100" y="2199640"/>
            <a:ext cx="878840" cy="3754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Coef.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09160" y="2148840"/>
            <a:ext cx="1234440" cy="438912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772660" y="2199640"/>
            <a:ext cx="1107440" cy="3754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p-value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2587752"/>
            <a:ext cx="3108960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66420" y="2638552"/>
            <a:ext cx="2981960" cy="3754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00000"/>
                </a:solidFill>
                <a:latin typeface="Calibri"/>
              </a:rPr>
              <a:t>Stewardship Code × Japan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0" y="2587752"/>
            <a:ext cx="1005840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721100" y="2638552"/>
            <a:ext cx="878840" cy="3754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+0.09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709160" y="2587752"/>
            <a:ext cx="1234440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772660" y="2638552"/>
            <a:ext cx="1107440" cy="3754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0.625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3026664"/>
            <a:ext cx="3108960" cy="438912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66420" y="3077464"/>
            <a:ext cx="2981960" cy="3754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00000"/>
                </a:solidFill>
                <a:latin typeface="Calibri"/>
              </a:rPr>
              <a:t>Corp. Governance Code × Japan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0" y="3026664"/>
            <a:ext cx="1005840" cy="438912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721100" y="3077464"/>
            <a:ext cx="878840" cy="3754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–0.32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709160" y="3026664"/>
            <a:ext cx="1234440" cy="438912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772660" y="3077464"/>
            <a:ext cx="1107440" cy="3754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0.375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2920" y="3465576"/>
            <a:ext cx="3108960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66420" y="3516376"/>
            <a:ext cx="2981960" cy="3754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00000"/>
                </a:solidFill>
                <a:latin typeface="Calibri"/>
              </a:rPr>
              <a:t>TSE P/B Reform × Japan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0" y="3465576"/>
            <a:ext cx="1005840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3721100" y="3516376"/>
            <a:ext cx="878840" cy="3754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–0.23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709160" y="3465576"/>
            <a:ext cx="1234440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772660" y="3516376"/>
            <a:ext cx="1107440" cy="3754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0.500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126480" y="1234440"/>
            <a:ext cx="12700" cy="534924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309360" y="1234440"/>
            <a:ext cx="5577840" cy="5349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>
              <a:spcBef>
                <a:spcPts val="0"/>
              </a:spcBef>
            </a:pPr>
            <a:r>
              <a:rPr sz="1600" b="1" i="0" dirty="0">
                <a:solidFill>
                  <a:srgbClr val="000000"/>
                </a:solidFill>
                <a:latin typeface="Calibri"/>
              </a:rPr>
              <a:t>Synthetic Control — 2023 TSE P/B Reform</a:t>
            </a:r>
          </a:p>
          <a:p>
            <a:pPr>
              <a:spcBef>
                <a:spcPts val="200"/>
              </a:spcBef>
            </a:pPr>
            <a:r>
              <a:rPr sz="1200" b="0" i="1" dirty="0">
                <a:solidFill>
                  <a:srgbClr val="595959"/>
                </a:solidFill>
                <a:latin typeface="Calibri"/>
              </a:rPr>
              <a:t>Donor pool: MSCI EM Asia, MSCI HK, MSCI Taiwan, MSCI China, MSCI India, MSCI Indonesia</a:t>
            </a:r>
          </a:p>
          <a:p>
            <a:pPr>
              <a:spcBef>
                <a:spcPts val="900"/>
              </a:spcBef>
            </a:pPr>
            <a:r>
              <a:rPr sz="1400" b="1" dirty="0">
                <a:solidFill>
                  <a:srgbClr val="000000"/>
                </a:solidFill>
                <a:latin typeface="Calibri"/>
              </a:rPr>
              <a:t>Donor weight:  </a:t>
            </a:r>
            <a:r>
              <a:rPr sz="1400" dirty="0">
                <a:solidFill>
                  <a:srgbClr val="000000"/>
                </a:solidFill>
                <a:latin typeface="Calibri"/>
              </a:rPr>
              <a:t>MSCI EM Asia = 1.0  (single-donor solution)</a:t>
            </a:r>
          </a:p>
          <a:p>
            <a:pPr>
              <a:spcBef>
                <a:spcPts val="900"/>
              </a:spcBef>
            </a:pPr>
            <a:r>
              <a:rPr sz="1400" b="1" dirty="0">
                <a:solidFill>
                  <a:srgbClr val="000000"/>
                </a:solidFill>
                <a:latin typeface="Calibri"/>
              </a:rPr>
              <a:t>Pre-treatment RMSPE:  </a:t>
            </a:r>
            <a:r>
              <a:rPr sz="1400" dirty="0">
                <a:solidFill>
                  <a:srgbClr val="000000"/>
                </a:solidFill>
                <a:latin typeface="Calibri"/>
              </a:rPr>
              <a:t>0.1451  (below 0.15 threshold)</a:t>
            </a:r>
          </a:p>
          <a:p>
            <a:pPr>
              <a:spcBef>
                <a:spcPts val="900"/>
              </a:spcBef>
            </a:pPr>
            <a:r>
              <a:rPr sz="1400" b="1" dirty="0">
                <a:solidFill>
                  <a:srgbClr val="000000"/>
                </a:solidFill>
                <a:latin typeface="Calibri"/>
              </a:rPr>
              <a:t>Post-reform gap:  </a:t>
            </a:r>
            <a:r>
              <a:rPr sz="1400" dirty="0">
                <a:solidFill>
                  <a:srgbClr val="000000"/>
                </a:solidFill>
                <a:latin typeface="Calibri"/>
              </a:rPr>
              <a:t>Modestly positive, fading  (avg. change ≈ –0.0028/month)</a:t>
            </a:r>
          </a:p>
          <a:p>
            <a:pPr>
              <a:spcBef>
                <a:spcPts val="900"/>
              </a:spcBef>
            </a:pPr>
            <a:r>
              <a:rPr sz="1400" b="1" dirty="0">
                <a:solidFill>
                  <a:srgbClr val="000000"/>
                </a:solidFill>
                <a:latin typeface="Calibri"/>
              </a:rPr>
              <a:t>Interpretation:  </a:t>
            </a:r>
            <a:r>
              <a:rPr sz="1400" dirty="0">
                <a:solidFill>
                  <a:srgbClr val="000000"/>
                </a:solidFill>
                <a:latin typeface="Calibri"/>
              </a:rPr>
              <a:t>Japan's P/B lift broadly matched its synthetic EM Asia peer. No sustained idiosyncratic governance premium after 2023.</a:t>
            </a:r>
          </a:p>
          <a:p>
            <a:pPr>
              <a:spcBef>
                <a:spcPts val="800"/>
              </a:spcBef>
            </a:pPr>
            <a:r>
              <a:rPr sz="1200" b="0" i="1" dirty="0">
                <a:solidFill>
                  <a:srgbClr val="595959"/>
                </a:solidFill>
                <a:latin typeface="Calibri"/>
              </a:rPr>
              <a:t>
Caveat: TOPIX absolute P/B did rise, but may reflect yen depreciation and regional EM momentum rather than a purely idiosyncratic governance premium.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37160"/>
            <a:ext cx="11155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Calibri"/>
              </a:rPr>
              <a:t>Preliminary Results: Additional Figures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77240"/>
            <a:ext cx="11155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595959"/>
                </a:solidFill>
                <a:latin typeface="Calibri"/>
              </a:rPr>
              <a:t>Left: GPR escalation insignificant (p = 0.40) — risk priced as level discount   |   Right: Synthetic control gap fades post-2023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748272"/>
            <a:ext cx="12188952" cy="4572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figure3_geo_ris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234440"/>
            <a:ext cx="5760720" cy="5349240"/>
          </a:xfrm>
          <a:prstGeom prst="rect">
            <a:avLst/>
          </a:prstGeom>
        </p:spPr>
      </p:pic>
      <p:pic>
        <p:nvPicPr>
          <p:cNvPr id="7" name="Picture 6" descr="figure_synth_ga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1234440"/>
            <a:ext cx="5760720" cy="534924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37160"/>
            <a:ext cx="11155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Calibri"/>
              </a:rPr>
              <a:t>Conclusion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48272"/>
            <a:ext cx="12188952" cy="4572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1234440"/>
            <a:ext cx="11155680" cy="38010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>
              <a:spcBef>
                <a:spcPts val="800"/>
              </a:spcBef>
            </a:pPr>
            <a:r>
              <a:rPr sz="1600" b="1" i="0" dirty="0">
                <a:solidFill>
                  <a:srgbClr val="000000"/>
                </a:solidFill>
                <a:latin typeface="Calibri"/>
              </a:rPr>
              <a:t>What we document</a:t>
            </a:r>
          </a:p>
          <a:p>
            <a:pPr lvl="1">
              <a:spcBef>
                <a:spcPts val="300"/>
              </a:spcBef>
            </a:pPr>
            <a:r>
              <a:rPr sz="1300" b="0" i="0" dirty="0">
                <a:solidFill>
                  <a:srgbClr val="000000"/>
                </a:solidFill>
                <a:latin typeface="Calibri"/>
              </a:rPr>
              <a:t>•  KOSPI P/B averages –0.177× below TOPIX (t = –3.23) and –0.601× below MSCI EM (t = –10.30)</a:t>
            </a:r>
          </a:p>
          <a:p>
            <a:pPr lvl="1">
              <a:spcBef>
                <a:spcPts val="300"/>
              </a:spcBef>
            </a:pPr>
            <a:r>
              <a:rPr sz="1300" b="0" i="0" dirty="0">
                <a:solidFill>
                  <a:srgbClr val="000000"/>
                </a:solidFill>
                <a:latin typeface="Calibri"/>
              </a:rPr>
              <a:t>•  Discount widened post-2023: KOSPI ≈ 0.93× vs. TOPIX ≈ 1.36×</a:t>
            </a:r>
          </a:p>
          <a:p>
            <a:pPr lvl="1">
              <a:spcBef>
                <a:spcPts val="300"/>
              </a:spcBef>
            </a:pPr>
            <a:r>
              <a:rPr sz="1300" b="0" i="0" dirty="0">
                <a:solidFill>
                  <a:srgbClr val="000000"/>
                </a:solidFill>
                <a:latin typeface="Calibri"/>
              </a:rPr>
              <a:t>•  Three channels: chaebol opacity · minority recourse deficit · geopolitical risk premium</a:t>
            </a:r>
          </a:p>
          <a:p>
            <a:pPr>
              <a:spcBef>
                <a:spcPts val="800"/>
              </a:spcBef>
            </a:pPr>
            <a:r>
              <a:rPr sz="1600" b="1" i="0" dirty="0">
                <a:solidFill>
                  <a:srgbClr val="000000"/>
                </a:solidFill>
                <a:latin typeface="Calibri"/>
              </a:rPr>
              <a:t>Empirical findings</a:t>
            </a:r>
          </a:p>
          <a:p>
            <a:pPr lvl="1">
              <a:spcBef>
                <a:spcPts val="300"/>
              </a:spcBef>
            </a:pPr>
            <a:r>
              <a:rPr sz="1300" b="0" i="0" dirty="0">
                <a:solidFill>
                  <a:srgbClr val="000000"/>
                </a:solidFill>
                <a:latin typeface="Calibri"/>
              </a:rPr>
              <a:t>•  Event-window CARs: large spread movements around reform dates, but no valid inference (saturated design, overlapping cohorts)</a:t>
            </a:r>
          </a:p>
          <a:p>
            <a:pPr lvl="1">
              <a:spcBef>
                <a:spcPts val="300"/>
              </a:spcBef>
            </a:pPr>
            <a:r>
              <a:rPr sz="1300" b="0" i="0" dirty="0">
                <a:solidFill>
                  <a:srgbClr val="000000"/>
                </a:solidFill>
                <a:latin typeface="Calibri"/>
              </a:rPr>
              <a:t>•  Panel OLS: p-values 0.625 / 0.375 / 0.500 — no robust causal evidence of a Japan governance re-rating</a:t>
            </a:r>
          </a:p>
          <a:p>
            <a:pPr lvl="1">
              <a:spcBef>
                <a:spcPts val="300"/>
              </a:spcBef>
            </a:pPr>
            <a:r>
              <a:rPr sz="1300" b="0" i="0" dirty="0">
                <a:solidFill>
                  <a:srgbClr val="000000"/>
                </a:solidFill>
                <a:latin typeface="Calibri"/>
              </a:rPr>
              <a:t>•  Synthetic control: full weight to MSCI EM Asia (RMSPE 0.1451); post-reform gap fades, not widens</a:t>
            </a:r>
          </a:p>
          <a:p>
            <a:pPr lvl="1">
              <a:spcBef>
                <a:spcPts val="300"/>
              </a:spcBef>
            </a:pPr>
            <a:r>
              <a:rPr sz="1300" b="0" i="0" dirty="0">
                <a:solidFill>
                  <a:srgbClr val="000000"/>
                </a:solidFill>
                <a:latin typeface="Calibri"/>
              </a:rPr>
              <a:t>•  Geopolitical risk coefficient: –0.02 (p = 0.40) </a:t>
            </a:r>
            <a:r>
              <a:rPr lang="en-US" sz="1300" b="0" i="0" dirty="0">
                <a:solidFill>
                  <a:srgbClr val="000000"/>
                </a:solidFill>
                <a:latin typeface="Calibri"/>
              </a:rPr>
              <a:t>is not significant,</a:t>
            </a:r>
            <a:r>
              <a:rPr sz="1300" b="0" i="0" dirty="0">
                <a:solidFill>
                  <a:srgbClr val="000000"/>
                </a:solidFill>
                <a:latin typeface="Calibri"/>
              </a:rPr>
              <a:t> priced as a structural level discount</a:t>
            </a:r>
          </a:p>
          <a:p>
            <a:pPr>
              <a:spcBef>
                <a:spcPts val="800"/>
              </a:spcBef>
            </a:pPr>
            <a:r>
              <a:rPr sz="1600" b="1" i="0" dirty="0">
                <a:solidFill>
                  <a:srgbClr val="000000"/>
                </a:solidFill>
                <a:latin typeface="Calibri"/>
              </a:rPr>
              <a:t>Bottom line</a:t>
            </a:r>
          </a:p>
          <a:p>
            <a:pPr lvl="1">
              <a:spcBef>
                <a:spcPts val="300"/>
              </a:spcBef>
            </a:pPr>
            <a:r>
              <a:rPr sz="1300" b="0" i="0" dirty="0">
                <a:solidFill>
                  <a:srgbClr val="000000"/>
                </a:solidFill>
                <a:latin typeface="Calibri"/>
              </a:rPr>
              <a:t>•  The Korea Discount is persistent and statistically significant</a:t>
            </a:r>
          </a:p>
          <a:p>
            <a:pPr lvl="1">
              <a:spcBef>
                <a:spcPts val="300"/>
              </a:spcBef>
            </a:pPr>
            <a:r>
              <a:rPr sz="1300" b="0" i="0" dirty="0">
                <a:solidFill>
                  <a:srgbClr val="000000"/>
                </a:solidFill>
                <a:latin typeface="Calibri"/>
              </a:rPr>
              <a:t>•  Japan's experience provides useful policy benchmarks but does not identify the valuation gain Korea would realize from adopting Japan-style reforms</a:t>
            </a:r>
          </a:p>
          <a:p>
            <a:pPr lvl="1">
              <a:spcBef>
                <a:spcPts val="300"/>
              </a:spcBef>
            </a:pPr>
            <a:r>
              <a:rPr sz="1300" b="0" i="0" dirty="0">
                <a:solidFill>
                  <a:srgbClr val="000000"/>
                </a:solidFill>
                <a:latin typeface="Calibri"/>
              </a:rPr>
              <a:t>•  Future work: firm-level chaebol governance panel; Korea Value-Up Program event study (2024–2026+)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37160"/>
            <a:ext cx="1115568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800" b="1" dirty="0">
                <a:solidFill>
                  <a:srgbClr val="000000"/>
                </a:solidFill>
                <a:latin typeface="Calibri"/>
              </a:rPr>
              <a:t>Appendix A: </a:t>
            </a:r>
            <a:r>
              <a:rPr sz="2800" b="1" dirty="0">
                <a:solidFill>
                  <a:srgbClr val="000000"/>
                </a:solidFill>
                <a:latin typeface="Calibri"/>
              </a:rPr>
              <a:t>Illustrative Counterfactual Projection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77240"/>
            <a:ext cx="11155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595959"/>
                </a:solidFill>
                <a:latin typeface="Calibri"/>
              </a:rPr>
              <a:t>KOSPI P/B under a Korea governance reform scenario — stress test, not a forecast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748272"/>
            <a:ext cx="12188952" cy="4572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figure4_counterfactual_projec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234440"/>
            <a:ext cx="6858000" cy="53492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315200" y="1234440"/>
            <a:ext cx="4572000" cy="5349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spcBef>
                <a:spcPts val="0"/>
              </a:spcBef>
            </a:pPr>
            <a:r>
              <a:rPr sz="1600" b="1" i="0">
                <a:solidFill>
                  <a:srgbClr val="000000"/>
                </a:solidFill>
                <a:latin typeface="Calibri"/>
              </a:rPr>
              <a:t>Construction</a:t>
            </a:r>
          </a:p>
          <a:p>
            <a:pPr lvl="1">
              <a:spcBef>
                <a:spcPts val="300"/>
              </a:spcBef>
            </a:pPr>
            <a:r>
              <a:rPr sz="1300" b="0" i="0">
                <a:solidFill>
                  <a:srgbClr val="000000"/>
                </a:solidFill>
                <a:latin typeface="Calibri"/>
              </a:rPr>
              <a:t>•  Base: KOSPI P/B ≈ 0.93× (Dec 2024)</a:t>
            </a:r>
          </a:p>
          <a:p>
            <a:pPr lvl="1">
              <a:spcBef>
                <a:spcPts val="300"/>
              </a:spcBef>
            </a:pPr>
            <a:r>
              <a:rPr sz="1300" b="0" i="0">
                <a:solidFill>
                  <a:srgbClr val="000000"/>
                </a:solidFill>
                <a:latin typeface="Calibri"/>
              </a:rPr>
              <a:t>•  Applied rate: avg. monthly change in Japan's synthetic-control gap over first 18 post-reform months (–0.0028/month)</a:t>
            </a:r>
          </a:p>
          <a:p>
            <a:pPr lvl="1">
              <a:spcBef>
                <a:spcPts val="300"/>
              </a:spcBef>
            </a:pPr>
            <a:r>
              <a:rPr sz="1300" b="0" i="0">
                <a:solidFill>
                  <a:srgbClr val="000000"/>
                </a:solidFill>
                <a:latin typeface="Calibri"/>
              </a:rPr>
              <a:t>•  Uncertainty band: ± RMSPE = ± 0.1451</a:t>
            </a:r>
          </a:p>
          <a:p>
            <a:pPr>
              <a:spcBef>
                <a:spcPts val="1000"/>
              </a:spcBef>
            </a:pPr>
            <a:r>
              <a:rPr sz="1600" b="1" i="0">
                <a:solidFill>
                  <a:srgbClr val="000000"/>
                </a:solidFill>
                <a:latin typeface="Calibri"/>
              </a:rPr>
              <a:t>
Result</a:t>
            </a:r>
          </a:p>
          <a:p>
            <a:pPr>
              <a:spcBef>
                <a:spcPts val="200"/>
              </a:spcBef>
            </a:pPr>
            <a:r>
              <a:rPr sz="1300" b="0" i="0">
                <a:solidFill>
                  <a:srgbClr val="000000"/>
                </a:solidFill>
                <a:latin typeface="Calibri"/>
              </a:rPr>
              <a:t>Because the Japan post-2023 relative gap change is negative, the mechanical projection does not close the Korea Discount. This is a stress test, not a prediction of policy success.</a:t>
            </a:r>
          </a:p>
          <a:p>
            <a:pPr>
              <a:spcBef>
                <a:spcPts val="1000"/>
              </a:spcBef>
            </a:pPr>
            <a:r>
              <a:rPr sz="1500" b="1" i="0">
                <a:solidFill>
                  <a:srgbClr val="000000"/>
                </a:solidFill>
                <a:latin typeface="Calibri"/>
              </a:rPr>
              <a:t>
Policy levers (if reforms are implemented)</a:t>
            </a:r>
          </a:p>
          <a:p>
            <a:pPr lvl="1">
              <a:spcBef>
                <a:spcPts val="300"/>
              </a:spcBef>
            </a:pPr>
            <a:r>
              <a:rPr sz="1300" b="0" i="0">
                <a:solidFill>
                  <a:srgbClr val="000000"/>
                </a:solidFill>
                <a:latin typeface="Calibri"/>
              </a:rPr>
              <a:t>•  FSC mandatory P/B disclosure (comply-or-explain, not voluntary)</a:t>
            </a:r>
          </a:p>
          <a:p>
            <a:pPr lvl="1">
              <a:spcBef>
                <a:spcPts val="300"/>
              </a:spcBef>
            </a:pPr>
            <a:r>
              <a:rPr sz="1300" b="0" i="0">
                <a:solidFill>
                  <a:srgbClr val="000000"/>
                </a:solidFill>
                <a:latin typeface="Calibri"/>
              </a:rPr>
              <a:t>•  KRX ≥ 50% independent board composition for large-cap issuers</a:t>
            </a:r>
          </a:p>
          <a:p>
            <a:pPr lvl="1">
              <a:spcBef>
                <a:spcPts val="300"/>
              </a:spcBef>
            </a:pPr>
            <a:r>
              <a:rPr sz="1300" b="0" i="0">
                <a:solidFill>
                  <a:srgbClr val="000000"/>
                </a:solidFill>
                <a:latin typeface="Calibri"/>
              </a:rPr>
              <a:t>•  Korean Stewardship Code: mandatory voting records + NPS engagement division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268</TotalTime>
  <Words>1424</Words>
  <Application>Microsoft Macintosh PowerPoint</Application>
  <PresentationFormat>Custom</PresentationFormat>
  <Paragraphs>136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Daniel Jung</cp:lastModifiedBy>
  <cp:revision>5</cp:revision>
  <dcterms:created xsi:type="dcterms:W3CDTF">2013-01-27T09:14:16Z</dcterms:created>
  <dcterms:modified xsi:type="dcterms:W3CDTF">2026-04-22T02:49:38Z</dcterms:modified>
  <cp:category/>
</cp:coreProperties>
</file>