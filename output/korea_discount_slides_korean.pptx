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E4043-30CA-DF46-8954-844AEB832A0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0214D-37E7-CF45-B364-3BB5BAE4A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35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/>
              </a:rPr>
              <a:t>주의사항</a:t>
            </a:r>
            <a:r>
              <a:rPr lang="en-US" altLang="ko-KR" sz="1200" b="1" dirty="0">
                <a:solidFill>
                  <a:srgbClr val="000000"/>
                </a:solidFill>
                <a:latin typeface="맑은 고딕"/>
              </a:rPr>
              <a:t>: 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</a:rPr>
              <a:t>국가 클러스터 </a:t>
            </a:r>
            <a:r>
              <a:rPr lang="en-US" sz="1200" dirty="0">
                <a:solidFill>
                  <a:srgbClr val="000000"/>
                </a:solidFill>
                <a:latin typeface="맑은 고딕"/>
              </a:rPr>
              <a:t>N = 4;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</a:rPr>
              <a:t>포화 이벤트 윈도우 설계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—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</a:rPr>
              <a:t>기술적 분석이며 인과관계 식별 아님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0214D-37E7-CF45-B364-3BB5BAE4A2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91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맑은 고딕"/>
              </a:rPr>
              <a:t>기업지배구조 개혁과 코리아 디스카운트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D9D9D9"/>
                </a:solidFill>
                <a:latin typeface="맑은 고딕"/>
              </a:rPr>
              <a:t>일본 개혁 경험으로부터의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881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</a:pPr>
            <a:r>
              <a:rPr sz="1400" b="1" dirty="0" err="1">
                <a:solidFill>
                  <a:srgbClr val="000000"/>
                </a:solidFill>
                <a:latin typeface="맑은 고딕"/>
              </a:rPr>
              <a:t>분석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</a:rPr>
              <a:t>대상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: 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월별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지수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PBR: KOSPI · TOPIX · S&amp;P 500 · MSCI EM  |  2004년 1월 – 2024년 12월  | 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관측치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1,008개</a:t>
            </a:r>
          </a:p>
          <a:p>
            <a:pPr>
              <a:spcBef>
                <a:spcPts val="800"/>
              </a:spcBef>
            </a:pPr>
            <a:r>
              <a:rPr sz="1400" b="1" dirty="0" err="1">
                <a:solidFill>
                  <a:srgbClr val="000000"/>
                </a:solidFill>
                <a:latin typeface="맑은 고딕"/>
              </a:rPr>
              <a:t>핵심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</a:rPr>
              <a:t>결과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:  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KOSPI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PBR은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TOPIX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대비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평균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–0.177배 (t = –3.23), MSCI EM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대비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–0.601배 (t = –10.30)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낮음</a:t>
            </a:r>
            <a:endParaRPr sz="140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800"/>
              </a:spcBef>
            </a:pPr>
            <a:r>
              <a:rPr sz="1400" b="1" dirty="0" err="1">
                <a:solidFill>
                  <a:srgbClr val="000000"/>
                </a:solidFill>
                <a:latin typeface="맑은 고딕"/>
              </a:rPr>
              <a:t>접근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</a:rPr>
              <a:t>방법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: 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일본의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3단계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지배구조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개혁을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정책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벤치마크로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활용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;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이벤트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윈도우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·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패널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OLS ·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합성통제법</a:t>
            </a:r>
            <a:endParaRPr sz="140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코리아 디스카운트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맑은 고딕"/>
              </a:rPr>
              <a:t>KOSPI 주가는 20년 이상 비교 가능한 글로벌 지수 대비 지속적으로 저평가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69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할인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규모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— 2004–2024년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평균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PBR</a:t>
            </a:r>
            <a:endParaRPr lang="en-US"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lang="en-US"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lang="en-US"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lang="en-US"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0"/>
              </a:spcBef>
            </a:pP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000000"/>
                </a:solidFill>
                <a:latin typeface="맑은 고딕"/>
              </a:rPr>
              <a:t>
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세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가지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구조적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원인</a:t>
            </a: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재벌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불투명성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및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대리인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비용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—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지배권-현금흐름권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비율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≈ 2:1;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터널링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;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주가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억제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유인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(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상속세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최대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60%)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소수주주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권리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보호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미흡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—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민법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전통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취약한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대표소송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권한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스튜어드십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코드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실효성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부족</a:t>
            </a:r>
            <a:endParaRPr sz="1400" b="0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지정학적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리스크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프리미엄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—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북한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핵실험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6회;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개별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이벤트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반응이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아닌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구조적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수준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할인으로</a:t>
            </a:r>
            <a:r>
              <a:rPr sz="14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맑은 고딕"/>
              </a:rPr>
              <a:t>반영</a:t>
            </a:r>
            <a:endParaRPr sz="1400" b="0" i="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883445"/>
            <a:ext cx="265176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420" y="1934245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비교 지수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83445"/>
            <a:ext cx="246888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3900" y="1934245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평균 격차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83445"/>
            <a:ext cx="214884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24220" y="1934245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t-통계량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883445"/>
            <a:ext cx="1874519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8779" y="1934245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95% 신뢰구간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883445"/>
            <a:ext cx="201168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39020" y="1934245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KOSPI 하위 기간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13213"/>
            <a:ext cx="2651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420" y="2364013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vs. TOPIX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313213"/>
            <a:ext cx="2468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63900" y="2364013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–0.177배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313213"/>
            <a:ext cx="214884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24220" y="2364013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–3.23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313213"/>
            <a:ext cx="1874519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8779" y="2364013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[–0.284배, –0.069배]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313213"/>
            <a:ext cx="20116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39020" y="2364013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2742981"/>
            <a:ext cx="265176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420" y="2793781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vs. MSCI 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742981"/>
            <a:ext cx="246888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63900" y="2793781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–0.601배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742981"/>
            <a:ext cx="214884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24220" y="2793781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–10.30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742981"/>
            <a:ext cx="1874519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8779" y="2793781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[–0.716배, –0.486배]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2742981"/>
            <a:ext cx="201168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39020" y="2793781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3172749"/>
            <a:ext cx="2651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420" y="3223549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vs. S&amp;P 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3172749"/>
            <a:ext cx="2468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63900" y="3223549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–1.90배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172749"/>
            <a:ext cx="214884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24220" y="3223549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172749"/>
            <a:ext cx="1874519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18779" y="3223549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172749"/>
            <a:ext cx="20116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9020" y="3223549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6039104"/>
            <a:ext cx="11155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 dirty="0">
                <a:solidFill>
                  <a:srgbClr val="595959"/>
                </a:solidFill>
                <a:latin typeface="맑은 고딕"/>
              </a:rPr>
              <a:t>KOSPI </a:t>
            </a:r>
            <a:r>
              <a:rPr sz="1200" i="1" dirty="0" err="1">
                <a:solidFill>
                  <a:srgbClr val="595959"/>
                </a:solidFill>
                <a:latin typeface="맑은 고딕"/>
              </a:rPr>
              <a:t>추이</a:t>
            </a:r>
            <a:r>
              <a:rPr sz="1200" i="1" dirty="0">
                <a:solidFill>
                  <a:srgbClr val="595959"/>
                </a:solidFill>
                <a:latin typeface="맑은 고딕"/>
              </a:rPr>
              <a:t>: 1.36배 (2004–2013)  →  1.02배 (2014–2022)  →  0.93배 (2023–2024)  |  </a:t>
            </a:r>
            <a:r>
              <a:rPr sz="1200" i="1" dirty="0" err="1">
                <a:solidFill>
                  <a:srgbClr val="595959"/>
                </a:solidFill>
                <a:latin typeface="맑은 고딕"/>
              </a:rPr>
              <a:t>TOPIX는</a:t>
            </a:r>
            <a:r>
              <a:rPr sz="1200" i="1" dirty="0">
                <a:solidFill>
                  <a:srgbClr val="595959"/>
                </a:solidFill>
                <a:latin typeface="맑은 고딕"/>
              </a:rPr>
              <a:t> 2023년 TSE </a:t>
            </a:r>
            <a:r>
              <a:rPr sz="1200" i="1" dirty="0" err="1">
                <a:solidFill>
                  <a:srgbClr val="595959"/>
                </a:solidFill>
                <a:latin typeface="맑은 고딕"/>
              </a:rPr>
              <a:t>개혁</a:t>
            </a:r>
            <a:r>
              <a:rPr sz="1200" i="1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200" i="1" dirty="0" err="1">
                <a:solidFill>
                  <a:srgbClr val="595959"/>
                </a:solidFill>
                <a:latin typeface="맑은 고딕"/>
              </a:rPr>
              <a:t>후</a:t>
            </a:r>
            <a:r>
              <a:rPr sz="1200" i="1" dirty="0">
                <a:solidFill>
                  <a:srgbClr val="595959"/>
                </a:solidFill>
                <a:latin typeface="맑은 고딕"/>
              </a:rPr>
              <a:t> 1.36배로 </a:t>
            </a:r>
            <a:r>
              <a:rPr sz="1200" i="1" dirty="0" err="1">
                <a:solidFill>
                  <a:srgbClr val="595959"/>
                </a:solidFill>
                <a:latin typeface="맑은 고딕"/>
              </a:rPr>
              <a:t>반등</a:t>
            </a:r>
            <a:endParaRPr sz="1200" i="1" dirty="0">
              <a:solidFill>
                <a:srgbClr val="595959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00000"/>
                </a:solidFill>
                <a:latin typeface="맑은 고딕"/>
              </a:rPr>
              <a:t>피겨</a:t>
            </a:r>
            <a:r>
              <a:rPr sz="2800" b="1" dirty="0">
                <a:solidFill>
                  <a:srgbClr val="000000"/>
                </a:solidFill>
                <a:latin typeface="맑은 고딕"/>
              </a:rPr>
              <a:t> 1: </a:t>
            </a:r>
            <a:r>
              <a:rPr sz="2800" b="1" dirty="0" err="1">
                <a:solidFill>
                  <a:srgbClr val="000000"/>
                </a:solidFill>
                <a:latin typeface="맑은 고딕"/>
              </a:rPr>
              <a:t>지수별</a:t>
            </a:r>
            <a:r>
              <a:rPr sz="2800" b="1" dirty="0">
                <a:solidFill>
                  <a:srgbClr val="000000"/>
                </a:solidFill>
                <a:latin typeface="맑은 고딕"/>
              </a:rPr>
              <a:t> PBR </a:t>
            </a:r>
            <a:r>
              <a:rPr sz="2800" b="1" dirty="0" err="1">
                <a:solidFill>
                  <a:srgbClr val="000000"/>
                </a:solidFill>
                <a:latin typeface="맑은 고딕"/>
              </a:rPr>
              <a:t>추이</a:t>
            </a:r>
            <a:r>
              <a:rPr sz="2800" b="1" dirty="0">
                <a:solidFill>
                  <a:srgbClr val="000000"/>
                </a:solidFill>
                <a:latin typeface="맑은 고딕"/>
              </a:rPr>
              <a:t> (2004–2024)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595959"/>
                </a:solidFill>
                <a:latin typeface="맑은 고딕"/>
              </a:rPr>
              <a:t>점선은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일본의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3차례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개혁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시점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; 2023년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이후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코리아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디스카운트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확대</a:t>
            </a:r>
            <a:endParaRPr sz="140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1_p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일본의 지배구조 개혁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95959"/>
                </a:solidFill>
                <a:latin typeface="맑은 고딕"/>
              </a:rPr>
              <a:t>3단계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정책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개입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—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정책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벤치마크로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활용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(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자연실험으로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간주하지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않음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49039" y="1234440"/>
            <a:ext cx="8229600" cy="1508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2539" y="1323340"/>
            <a:ext cx="810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000000"/>
                </a:solidFill>
                <a:latin typeface="맑은 고딕"/>
              </a:rPr>
              <a:t>기관투자자에게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참여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정책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수립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및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의결권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행사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내역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공시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의무화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lang="ko-KR" altLang="en-US" sz="1200" b="0" dirty="0">
                <a:solidFill>
                  <a:srgbClr val="000000"/>
                </a:solidFill>
                <a:latin typeface="맑은 고딕"/>
              </a:rPr>
              <a:t>준수 및 해명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방식으로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높은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이행률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달성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케이레츠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교차보유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해소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촉진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(Miyajima 2023).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743200"/>
            <a:ext cx="8229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2539" y="2832100"/>
            <a:ext cx="810260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000000"/>
                </a:solidFill>
                <a:latin typeface="맑은 고딕"/>
              </a:rPr>
              <a:t>모든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TSE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상장사에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지배구조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원칙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준수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또는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미준수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이유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공시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의무화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사외이사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2인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이상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선임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요구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2017년까지 JPX-Nikkei 400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구성사의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90%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이상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이행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4251960"/>
            <a:ext cx="8229600" cy="1508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5D4ACA-4E20-E822-132B-BDDD42EFA4AE}"/>
              </a:ext>
            </a:extLst>
          </p:cNvPr>
          <p:cNvGrpSpPr/>
          <p:nvPr/>
        </p:nvGrpSpPr>
        <p:grpSpPr>
          <a:xfrm>
            <a:off x="502920" y="1234440"/>
            <a:ext cx="1392787" cy="4526280"/>
            <a:chOff x="502920" y="1234440"/>
            <a:chExt cx="1188720" cy="4526280"/>
          </a:xfrm>
        </p:grpSpPr>
        <p:sp>
          <p:nvSpPr>
            <p:cNvPr id="6" name="Rectangle 5"/>
            <p:cNvSpPr/>
            <p:nvPr/>
          </p:nvSpPr>
          <p:spPr>
            <a:xfrm>
              <a:off x="502920" y="1234440"/>
              <a:ext cx="1188720" cy="15087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6420" y="1323340"/>
              <a:ext cx="1061720" cy="1381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500" b="1" dirty="0">
                  <a:solidFill>
                    <a:srgbClr val="FFFFFF"/>
                  </a:solidFill>
                  <a:latin typeface="맑은 고딕"/>
                </a:rPr>
                <a:t>2014년 2월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2920" y="2743200"/>
              <a:ext cx="1188720" cy="15087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6420" y="2832100"/>
              <a:ext cx="1061720" cy="1381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500" b="1">
                  <a:solidFill>
                    <a:srgbClr val="FFFFFF"/>
                  </a:solidFill>
                  <a:latin typeface="맑은 고딕"/>
                </a:rPr>
                <a:t>2015년 6월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2920" y="4251960"/>
              <a:ext cx="1188720" cy="15087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6420" y="4340860"/>
              <a:ext cx="1061720" cy="1381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500" b="1">
                  <a:solidFill>
                    <a:srgbClr val="FFFFFF"/>
                  </a:solidFill>
                  <a:latin typeface="맑은 고딕"/>
                </a:rPr>
                <a:t>2023년 3월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543832-B0EB-3554-2559-FAEDEA2F0C3A}"/>
              </a:ext>
            </a:extLst>
          </p:cNvPr>
          <p:cNvGrpSpPr/>
          <p:nvPr/>
        </p:nvGrpSpPr>
        <p:grpSpPr>
          <a:xfrm>
            <a:off x="1948055" y="1234440"/>
            <a:ext cx="1744113" cy="4526280"/>
            <a:chOff x="1737360" y="1234440"/>
            <a:chExt cx="1965960" cy="4526280"/>
          </a:xfrm>
        </p:grpSpPr>
        <p:sp>
          <p:nvSpPr>
            <p:cNvPr id="7" name="Rectangle 6"/>
            <p:cNvSpPr/>
            <p:nvPr/>
          </p:nvSpPr>
          <p:spPr>
            <a:xfrm>
              <a:off x="1737360" y="1234440"/>
              <a:ext cx="1965960" cy="1508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00860" y="1323340"/>
              <a:ext cx="1838960" cy="1381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300" b="1">
                  <a:solidFill>
                    <a:srgbClr val="FFFFFF"/>
                  </a:solidFill>
                  <a:latin typeface="맑은 고딕"/>
                </a:rPr>
                <a:t>스튜어드십 코드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737360" y="2743200"/>
              <a:ext cx="1965960" cy="1508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00860" y="2832100"/>
              <a:ext cx="1838960" cy="1381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300" b="1">
                  <a:solidFill>
                    <a:srgbClr val="FFFFFF"/>
                  </a:solidFill>
                  <a:latin typeface="맑은 고딕"/>
                </a:rPr>
                <a:t>기업지배구조 코드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737360" y="4251960"/>
              <a:ext cx="1965960" cy="1508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00860" y="4340860"/>
              <a:ext cx="1838960" cy="1381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300" b="1">
                  <a:solidFill>
                    <a:srgbClr val="FFFFFF"/>
                  </a:solidFill>
                  <a:latin typeface="맑은 고딕"/>
                </a:rPr>
                <a:t>TSE PBR 개혁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812539" y="4340860"/>
            <a:ext cx="810260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000000"/>
                </a:solidFill>
                <a:latin typeface="맑은 고딕"/>
              </a:rPr>
              <a:t>PBR 1.0배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미만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기업에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자본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효율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개선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계획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공시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요구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TOPIX PBR ≈1.0배 → ≈1.36배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상승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KOSPI는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≈0.93배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유지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한·일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격차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확대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한국의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기업가치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제고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프로그램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(2024)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은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이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개혁을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모델로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하나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자율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참여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맑은 고딕"/>
              </a:rPr>
              <a:t>방식</a:t>
            </a:r>
            <a:r>
              <a:rPr sz="1200" b="0" dirty="0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 err="1">
                <a:solidFill>
                  <a:srgbClr val="595959"/>
                </a:solidFill>
              </a:rPr>
              <a:t>한국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비교</a:t>
            </a:r>
            <a:r>
              <a:rPr sz="1100" i="1" dirty="0">
                <a:solidFill>
                  <a:srgbClr val="595959"/>
                </a:solidFill>
              </a:rPr>
              <a:t>: </a:t>
            </a:r>
            <a:r>
              <a:rPr sz="1100" i="1" dirty="0" err="1">
                <a:solidFill>
                  <a:srgbClr val="595959"/>
                </a:solidFill>
              </a:rPr>
              <a:t>스튜어드십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코드</a:t>
            </a:r>
            <a:r>
              <a:rPr sz="1100" i="1" dirty="0">
                <a:solidFill>
                  <a:srgbClr val="595959"/>
                </a:solidFill>
              </a:rPr>
              <a:t> 2016년 12월 </a:t>
            </a:r>
            <a:r>
              <a:rPr sz="1100" i="1" dirty="0" err="1">
                <a:solidFill>
                  <a:srgbClr val="595959"/>
                </a:solidFill>
              </a:rPr>
              <a:t>도입</a:t>
            </a:r>
            <a:r>
              <a:rPr sz="1100" i="1" dirty="0">
                <a:solidFill>
                  <a:srgbClr val="595959"/>
                </a:solidFill>
              </a:rPr>
              <a:t>(</a:t>
            </a:r>
            <a:r>
              <a:rPr sz="1100" i="1" dirty="0" err="1">
                <a:solidFill>
                  <a:srgbClr val="595959"/>
                </a:solidFill>
              </a:rPr>
              <a:t>이행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강도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약함</a:t>
            </a:r>
            <a:r>
              <a:rPr sz="1100" i="1" dirty="0">
                <a:solidFill>
                  <a:srgbClr val="595959"/>
                </a:solidFill>
              </a:rPr>
              <a:t>), </a:t>
            </a:r>
            <a:r>
              <a:rPr sz="1100" i="1" dirty="0" err="1">
                <a:solidFill>
                  <a:srgbClr val="595959"/>
                </a:solidFill>
              </a:rPr>
              <a:t>기업가치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제고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프로그램</a:t>
            </a:r>
            <a:r>
              <a:rPr sz="1100" i="1" dirty="0">
                <a:solidFill>
                  <a:srgbClr val="595959"/>
                </a:solidFill>
              </a:rPr>
              <a:t> 2024년 </a:t>
            </a:r>
            <a:r>
              <a:rPr sz="1100" i="1" dirty="0" err="1">
                <a:solidFill>
                  <a:srgbClr val="595959"/>
                </a:solidFill>
              </a:rPr>
              <a:t>도입</a:t>
            </a:r>
            <a:r>
              <a:rPr sz="1100" i="1" dirty="0">
                <a:solidFill>
                  <a:srgbClr val="595959"/>
                </a:solidFill>
              </a:rPr>
              <a:t>(</a:t>
            </a:r>
            <a:r>
              <a:rPr sz="1100" i="1" dirty="0" err="1">
                <a:solidFill>
                  <a:srgbClr val="595959"/>
                </a:solidFill>
              </a:rPr>
              <a:t>자율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참여</a:t>
            </a:r>
            <a:r>
              <a:rPr sz="1100" i="1" dirty="0">
                <a:solidFill>
                  <a:srgbClr val="595959"/>
                </a:solidFill>
              </a:rPr>
              <a:t>) — </a:t>
            </a:r>
            <a:r>
              <a:rPr sz="1100" i="1" dirty="0" err="1">
                <a:solidFill>
                  <a:srgbClr val="595959"/>
                </a:solidFill>
              </a:rPr>
              <a:t>완전한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미처리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비교군이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아닌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부분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비교군</a:t>
            </a:r>
            <a:r>
              <a:rPr sz="1100" i="1" dirty="0">
                <a:solidFill>
                  <a:srgbClr val="595959"/>
                </a:solidFill>
              </a:rPr>
              <a:t>. </a:t>
            </a:r>
            <a:r>
              <a:rPr sz="1100" i="1" dirty="0" err="1">
                <a:solidFill>
                  <a:srgbClr val="595959"/>
                </a:solidFill>
              </a:rPr>
              <a:t>모든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개혁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시점은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데이터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변환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이전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config.py에</a:t>
            </a:r>
            <a:r>
              <a:rPr sz="1100" i="1" dirty="0">
                <a:solidFill>
                  <a:srgbClr val="595959"/>
                </a:solidFill>
              </a:rPr>
              <a:t> </a:t>
            </a:r>
            <a:r>
              <a:rPr sz="1100" i="1" dirty="0" err="1">
                <a:solidFill>
                  <a:srgbClr val="595959"/>
                </a:solidFill>
              </a:rPr>
              <a:t>고정</a:t>
            </a:r>
            <a:r>
              <a:rPr sz="1100" i="1" dirty="0">
                <a:solidFill>
                  <a:srgbClr val="595959"/>
                </a:solidFill>
              </a:rPr>
              <a:t> (look-ahead bias </a:t>
            </a:r>
            <a:r>
              <a:rPr sz="1100" i="1" dirty="0" err="1">
                <a:solidFill>
                  <a:srgbClr val="595959"/>
                </a:solidFill>
              </a:rPr>
              <a:t>방지</a:t>
            </a:r>
            <a:r>
              <a:rPr sz="1100" i="1" dirty="0">
                <a:solidFill>
                  <a:srgbClr val="595959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데이터 및 실증 분석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03520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700" b="1" i="0" dirty="0" err="1">
                <a:solidFill>
                  <a:srgbClr val="000000"/>
                </a:solidFill>
                <a:latin typeface="맑은 고딕"/>
              </a:rPr>
              <a:t>데이터</a:t>
            </a:r>
            <a:endParaRPr sz="1700" b="1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Bloomberg PX_TO_BOOK_RATIO: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월별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PBR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KOSPI · TOPIX · S&amp;P 500 · MSCI EM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2004년 1월 – 2024년 12월 (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국가-월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관측치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1,008개)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PBR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선택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이유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경기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변동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민감도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낮음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;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불황기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음수값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없음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; TSE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개혁의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직접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대상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리스크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(Caldara–Iacoviello) +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북한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위협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GPRNK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하위지수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89320" y="1234440"/>
            <a:ext cx="12700" cy="5349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577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700" b="1" i="0" dirty="0" err="1">
                <a:solidFill>
                  <a:srgbClr val="000000"/>
                </a:solidFill>
                <a:latin typeface="맑은 고딕"/>
              </a:rPr>
              <a:t>세</a:t>
            </a:r>
            <a:r>
              <a:rPr sz="17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000000"/>
                </a:solidFill>
                <a:latin typeface="맑은 고딕"/>
              </a:rPr>
              <a:t>가지</a:t>
            </a:r>
            <a:r>
              <a:rPr sz="17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000000"/>
                </a:solidFill>
                <a:latin typeface="맑은 고딕"/>
              </a:rPr>
              <a:t>실증</a:t>
            </a:r>
            <a:r>
              <a:rPr sz="17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000000"/>
                </a:solidFill>
                <a:latin typeface="맑은 고딕"/>
              </a:rPr>
              <a:t>분석</a:t>
            </a:r>
            <a:r>
              <a:rPr sz="17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000000"/>
                </a:solidFill>
                <a:latin typeface="맑은 고딕"/>
              </a:rPr>
              <a:t>방법</a:t>
            </a:r>
            <a:endParaRPr sz="17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800"/>
              </a:spcBef>
            </a:pP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이벤트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윈도우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분석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 [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주요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분석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]</a:t>
            </a:r>
          </a:p>
          <a:p>
            <a:pPr lvl="1">
              <a:spcBef>
                <a:spcPts val="2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[–36, –1]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구간에서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선형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사전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추세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추출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; CAR = [–12, +24]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구간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KOSPI–TOPIX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스프레드의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누적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비정상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변화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포화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설계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→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표준오차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미정의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결과는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기술적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분석에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한함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패널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OLS  [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보완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분석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]</a:t>
            </a:r>
          </a:p>
          <a:p>
            <a:pPr lvl="1">
              <a:spcBef>
                <a:spcPts val="200"/>
              </a:spcBef>
            </a:pP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이원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고정효과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(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국가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+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시간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);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개혁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×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일본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교호항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와일드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부트스트랩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p값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(Rademacher 999회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추출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, N = 4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클러스터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).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결과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p = 0.625 / 0.375 / 0.500</a:t>
            </a:r>
            <a:r>
              <a:rPr lang="ko-KR" altLang="en-US" sz="1300" dirty="0">
                <a:solidFill>
                  <a:srgbClr val="000000"/>
                </a:solidFill>
                <a:latin typeface="맑은 고딕"/>
              </a:rPr>
              <a:t>로 인하여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강건한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인과적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증거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없음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합성통제법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  [2023년 </a:t>
            </a:r>
            <a:r>
              <a:rPr sz="1400" b="1" i="0" dirty="0" err="1">
                <a:solidFill>
                  <a:srgbClr val="000000"/>
                </a:solidFill>
                <a:latin typeface="맑은 고딕"/>
              </a:rPr>
              <a:t>한정</a:t>
            </a:r>
            <a:r>
              <a:rPr sz="1400" b="1" i="0" dirty="0">
                <a:solidFill>
                  <a:srgbClr val="000000"/>
                </a:solidFill>
                <a:latin typeface="맑은 고딕"/>
              </a:rPr>
              <a:t>]</a:t>
            </a:r>
          </a:p>
          <a:p>
            <a:pPr lvl="1">
              <a:spcBef>
                <a:spcPts val="200"/>
              </a:spcBef>
            </a:pP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역내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EM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비교군에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대한</a:t>
            </a:r>
            <a:r>
              <a:rPr lang="ko-KR" altLang="en-US" sz="13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demeaned PBR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기반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합성통제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 MSCI EM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아시아에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전체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가중치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배분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;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처치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RMSPE = 0.1451.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결과: 이벤트 윈도우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맑은 고딕"/>
              </a:rPr>
              <a:t>누적 비정상 KOSPI–TOPIX PBR 스프레드; 양수 = 사전 추세 대비 할인 축소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2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34440"/>
            <a:ext cx="4572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</a:pPr>
            <a:r>
              <a:rPr sz="1500" b="1" i="0">
                <a:solidFill>
                  <a:srgbClr val="000000"/>
                </a:solidFill>
                <a:latin typeface="맑은 고딕"/>
              </a:rPr>
              <a:t>τ = +24에서의 코호트별 CAR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000000"/>
                </a:solidFill>
                <a:latin typeface="맑은 고딕"/>
              </a:rPr>
              <a:t>2014 스튜어드십 코드  |  CAR ≈ +4.29</a:t>
            </a:r>
          </a:p>
          <a:p>
            <a:pPr lvl="1">
              <a:spcBef>
                <a:spcPts val="100"/>
              </a:spcBef>
            </a:pPr>
            <a:r>
              <a:rPr sz="1200" b="0" i="0">
                <a:solidFill>
                  <a:srgbClr val="595959"/>
                </a:solidFill>
                <a:latin typeface="맑은 고딕"/>
              </a:rPr>
              <a:t>스프레드가 사전 추세 대비 상승. 2015년 윈도우와 중복 — 독립적 실험 아님.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000000"/>
                </a:solidFill>
                <a:latin typeface="맑은 고딕"/>
              </a:rPr>
              <a:t>2015 기업지배구조 코드  |  CAR ≈ +7.83</a:t>
            </a:r>
          </a:p>
          <a:p>
            <a:pPr lvl="1">
              <a:spcBef>
                <a:spcPts val="100"/>
              </a:spcBef>
            </a:pPr>
            <a:r>
              <a:rPr sz="1200" b="0" i="0">
                <a:solidFill>
                  <a:srgbClr val="595959"/>
                </a:solidFill>
                <a:latin typeface="맑은 고딕"/>
              </a:rPr>
              <a:t>3개 코호트 중 가장 큰 누적 움직임. 2014년 윈도우와 중복.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000000"/>
                </a:solidFill>
                <a:latin typeface="맑은 고딕"/>
              </a:rPr>
              <a:t>2023 TSE PBR 개혁  |  CAR ≈ –6.48</a:t>
            </a:r>
          </a:p>
          <a:p>
            <a:pPr lvl="1">
              <a:spcBef>
                <a:spcPts val="100"/>
              </a:spcBef>
            </a:pPr>
            <a:r>
              <a:rPr sz="1200" b="0" i="0">
                <a:solidFill>
                  <a:srgbClr val="595959"/>
                </a:solidFill>
                <a:latin typeface="맑은 고딕"/>
              </a:rPr>
              <a:t>개혁 후 한·일 격차가 사전 추세 대비 확대. 정책적으로 가장 시의성 있는 코호트.</a:t>
            </a:r>
          </a:p>
          <a:p>
            <a:pPr>
              <a:spcBef>
                <a:spcPts val="1000"/>
              </a:spcBef>
            </a:pPr>
            <a:r>
              <a:rPr sz="1200" b="0" i="1">
                <a:solidFill>
                  <a:srgbClr val="595959"/>
                </a:solidFill>
                <a:latin typeface="맑은 고딕"/>
              </a:rPr>
              <a:t>
주의: 설계가 포화 상태이므로 신뢰구간 없음; 2014·2015 코호트는 중복됨. 인과적 처치 효과가 아닌 기술적 스프레드 변화임.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결과: 패널 OLS 및 합성통제법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패널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OLS —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이원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고정효과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+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개혁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×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일본</a:t>
            </a: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와일드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부트스트랩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p값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 (Rademacher 999회, N = 4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클러스터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)</a:t>
            </a:r>
            <a:endParaRPr lang="en-US" sz="1200" b="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b="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b="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b="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lang="en-US" sz="120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endParaRPr sz="1200" b="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6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
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해석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강건한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인과적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증거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없음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10896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420" y="2199640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교호 변수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48840"/>
            <a:ext cx="100584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100" y="2199640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2148840"/>
            <a:ext cx="123444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2660" y="2199640"/>
            <a:ext cx="1107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맑은 고딕"/>
              </a:rPr>
              <a:t>P-value</a:t>
            </a:r>
            <a:endParaRPr sz="13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420" y="2638552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스튜어드십 코드 × 일본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87752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100" y="2638552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+0.09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587752"/>
            <a:ext cx="1234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2660" y="2638552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0.625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26664"/>
            <a:ext cx="3108960" cy="4389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420" y="3077464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기업지배구조 코드 × 일본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026664"/>
            <a:ext cx="1005840" cy="4389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100" y="3077464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–0.32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026664"/>
            <a:ext cx="1234440" cy="4389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2660" y="3077464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0.375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65576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420" y="3516376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TSE PBR 개혁 × 일본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465576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21100" y="3516376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–0.23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465576"/>
            <a:ext cx="1234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2660" y="3516376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0.500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234440"/>
            <a:ext cx="12700" cy="5349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1234440"/>
            <a:ext cx="5577840" cy="254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합성통제법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— 2023 TSE PBR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개혁</a:t>
            </a: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200"/>
              </a:spcBef>
            </a:pP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비교군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: MSCI EM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아시아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, MSCI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홍콩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, MSCI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대만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, MSCI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중국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, MSCI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인도</a:t>
            </a:r>
            <a:r>
              <a:rPr sz="1200" b="0" i="1" dirty="0">
                <a:solidFill>
                  <a:srgbClr val="595959"/>
                </a:solidFill>
                <a:latin typeface="맑은 고딕"/>
              </a:rPr>
              <a:t>, MSCI </a:t>
            </a:r>
            <a:r>
              <a:rPr sz="1200" b="0" i="1" dirty="0" err="1">
                <a:solidFill>
                  <a:srgbClr val="595959"/>
                </a:solidFill>
                <a:latin typeface="맑은 고딕"/>
              </a:rPr>
              <a:t>인도네시아</a:t>
            </a:r>
            <a:endParaRPr sz="1200" b="0" i="1" dirty="0">
              <a:solidFill>
                <a:srgbClr val="595959"/>
              </a:solidFill>
              <a:latin typeface="맑은 고딕"/>
            </a:endParaRP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0000"/>
                </a:solidFill>
                <a:latin typeface="맑은 고딕"/>
              </a:rPr>
              <a:t>MSCI EM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아시아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= 1.0  (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단일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비교군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해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)</a:t>
            </a:r>
          </a:p>
          <a:p>
            <a:pPr>
              <a:spcBef>
                <a:spcPts val="900"/>
              </a:spcBef>
            </a:pPr>
            <a:r>
              <a:rPr sz="1400" b="1" dirty="0" err="1">
                <a:solidFill>
                  <a:srgbClr val="000000"/>
                </a:solidFill>
                <a:latin typeface="맑은 고딕"/>
              </a:rPr>
              <a:t>처치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</a:rPr>
              <a:t>전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 RMSPE:  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0.1451  (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임계값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0.15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이하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)</a:t>
            </a:r>
          </a:p>
          <a:p>
            <a:pPr>
              <a:spcBef>
                <a:spcPts val="900"/>
              </a:spcBef>
            </a:pPr>
            <a:r>
              <a:rPr sz="1400" b="1" dirty="0" err="1">
                <a:solidFill>
                  <a:srgbClr val="000000"/>
                </a:solidFill>
                <a:latin typeface="맑은 고딕"/>
              </a:rPr>
              <a:t>사후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</a:rPr>
              <a:t>격차</a:t>
            </a:r>
            <a:r>
              <a:rPr sz="1400" b="1" dirty="0">
                <a:solidFill>
                  <a:srgbClr val="000000"/>
                </a:solidFill>
                <a:latin typeface="맑은 고딕"/>
              </a:rPr>
              <a:t>: 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소폭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양수이나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점진적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축소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(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월평균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변화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≈ –0.0028)</a:t>
            </a:r>
          </a:p>
          <a:p>
            <a:pPr>
              <a:spcBef>
                <a:spcPts val="900"/>
              </a:spcBef>
            </a:pPr>
            <a:r>
              <a:rPr sz="1400" dirty="0" err="1">
                <a:solidFill>
                  <a:srgbClr val="000000"/>
                </a:solidFill>
                <a:latin typeface="맑은 고딕"/>
              </a:rPr>
              <a:t>일본의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PBR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상승은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합성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EM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아시아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비교군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추이와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대체로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일치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. 2023년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이후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독립적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지배구조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프리미엄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지속되지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맑은 고딕"/>
              </a:rPr>
              <a:t>않음</a:t>
            </a:r>
            <a:r>
              <a:rPr sz="1400" dirty="0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예비 결과: 추가 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595959"/>
                </a:solidFill>
                <a:latin typeface="맑은 고딕"/>
              </a:rPr>
              <a:t>좌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: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지정학적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리스크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계수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유의하지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않음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(p = 0.40) —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구조적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수준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할인으로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반영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  |  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우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: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합성통제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격차는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2023년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이후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점차</a:t>
            </a:r>
            <a:r>
              <a:rPr sz="140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맑은 고딕"/>
              </a:rPr>
              <a:t>축소</a:t>
            </a:r>
            <a:endParaRPr sz="140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3_geo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760720" cy="5349240"/>
          </a:xfrm>
          <a:prstGeom prst="rect">
            <a:avLst/>
          </a:prstGeom>
        </p:spPr>
      </p:pic>
      <p:pic>
        <p:nvPicPr>
          <p:cNvPr id="7" name="Picture 6" descr="figure_synth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7607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맑은 고딕"/>
              </a:rP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</a:pP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주요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발견</a:t>
            </a: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KOSPI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PBR은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TOPIX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대비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평균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–0.177배 (t = –3.23), MSCI EM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대비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–0.601배 (t = –10.30)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2023년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이후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할인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확대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KOSPI ≈ 0.93배 vs. TOPIX ≈ 1.36배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3대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구조적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원인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재벌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불투명성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·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소수주주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보호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미흡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·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지정학적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리스크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프리미엄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800"/>
              </a:spcBef>
            </a:pP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실증</a:t>
            </a:r>
            <a:r>
              <a:rPr sz="16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결과</a:t>
            </a: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이벤트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윈도우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CAR: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개혁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시점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전후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스프레드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변동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있으나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유효한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추론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불가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(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포화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설계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,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중복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코호트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)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패널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OLS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p값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0.625 / 0.375 / 0.500 —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일본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지배구조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재평가의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강건한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인과적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증거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없음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합성통제법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MSCI EM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아시아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전체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가중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(RMSPE 0.1451);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사후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격차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축소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,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확대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아님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지정학적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리스크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계수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–0.02 (p = 0.40) —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구조적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수준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할인으로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반영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>
              <a:spcBef>
                <a:spcPts val="800"/>
              </a:spcBef>
            </a:pPr>
            <a:r>
              <a:rPr sz="1600" b="1" i="0" dirty="0" err="1">
                <a:solidFill>
                  <a:srgbClr val="000000"/>
                </a:solidFill>
                <a:latin typeface="맑은 고딕"/>
              </a:rPr>
              <a:t>시사점</a:t>
            </a:r>
            <a:endParaRPr sz="1600" b="1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코리아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디스카운트는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지속적이고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통계적으로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유의미함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일본의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경험은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유용한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정책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벤치마크를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제공하나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,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한국이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일본식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개혁을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도입했을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때의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밸류에이션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개선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폭을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특정하지는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못함</a:t>
            </a:r>
            <a:endParaRPr sz="1300" b="0" i="0" dirty="0">
              <a:solidFill>
                <a:srgbClr val="000000"/>
              </a:solidFill>
              <a:latin typeface="맑은 고딕"/>
            </a:endParaRP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맑은 고딕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향후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연구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: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재벌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지배구조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기업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패널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분석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;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기업가치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제고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프로그램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이벤트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맑은 고딕"/>
              </a:rPr>
              <a:t>스터디</a:t>
            </a:r>
            <a:r>
              <a:rPr sz="1300" b="0" i="0" dirty="0">
                <a:solidFill>
                  <a:srgbClr val="000000"/>
                </a:solidFill>
                <a:latin typeface="맑은 고딕"/>
              </a:rPr>
              <a:t> (2024–2026+)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1185</Words>
  <Application>Microsoft Macintosh PowerPoint</Application>
  <PresentationFormat>Custom</PresentationFormat>
  <Paragraphs>131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맑은 고딕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Jung</cp:lastModifiedBy>
  <cp:revision>9</cp:revision>
  <dcterms:created xsi:type="dcterms:W3CDTF">2013-01-27T09:14:16Z</dcterms:created>
  <dcterms:modified xsi:type="dcterms:W3CDTF">2026-04-22T02:49:45Z</dcterms:modified>
  <cp:category/>
</cp:coreProperties>
</file>