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76"/>
  </p:normalViewPr>
  <p:slideViewPr>
    <p:cSldViewPr snapToGrid="0" snapToObjects="1">
      <p:cViewPr varScale="1">
        <p:scale>
          <a:sx n="114" d="100"/>
          <a:sy n="114" d="100"/>
        </p:scale>
        <p:origin x="6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2834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881360" cy="2194560"/>
          </a:xfrm>
          <a:prstGeom prst="rect">
            <a:avLst/>
          </a:prstGeom>
          <a:noFill/>
        </p:spPr>
        <p:txBody>
          <a:bodyPr wrap="square">
            <a:spAutoFit/>
          </a:bodyPr>
          <a:lstStyle/>
          <a:p>
            <a:pPr algn="l"/>
            <a:r>
              <a:rPr sz="3400" b="1">
                <a:solidFill>
                  <a:srgbClr val="FFFFFF"/>
                </a:solidFill>
                <a:latin typeface="Calibri"/>
              </a:rPr>
              <a:t>Corporate Governance Reform and the Korea Discount</a:t>
            </a:r>
          </a:p>
          <a:p>
            <a:pPr algn="l">
              <a:spcBef>
                <a:spcPts val="600"/>
              </a:spcBef>
            </a:pPr>
            <a:r>
              <a:rPr sz="2100" b="0">
                <a:solidFill>
                  <a:srgbClr val="D9D9D9"/>
                </a:solidFill>
                <a:latin typeface="Calibri"/>
              </a:rPr>
              <a:t>Lessons from Japan's Reform Experience</a:t>
            </a:r>
          </a:p>
        </p:txBody>
      </p:sp>
      <p:sp>
        <p:nvSpPr>
          <p:cNvPr id="4" name="TextBox 3"/>
          <p:cNvSpPr txBox="1"/>
          <p:nvPr/>
        </p:nvSpPr>
        <p:spPr>
          <a:xfrm>
            <a:off x="640080" y="2971800"/>
            <a:ext cx="10881360" cy="3474720"/>
          </a:xfrm>
          <a:prstGeom prst="rect">
            <a:avLst/>
          </a:prstGeom>
          <a:noFill/>
        </p:spPr>
        <p:txBody>
          <a:bodyPr wrap="square">
            <a:spAutoFit/>
          </a:bodyPr>
          <a:lstStyle/>
          <a:p>
            <a:endParaRPr/>
          </a:p>
          <a:p>
            <a:pPr>
              <a:spcBef>
                <a:spcPts val="700"/>
              </a:spcBef>
            </a:pPr>
            <a:r>
              <a:rPr sz="1400" b="1">
                <a:solidFill>
                  <a:srgbClr val="000000"/>
                </a:solidFill>
                <a:latin typeface="Calibri"/>
              </a:rPr>
              <a:t>Setting:  </a:t>
            </a:r>
            <a:r>
              <a:rPr sz="1400" b="0">
                <a:solidFill>
                  <a:srgbClr val="000000"/>
                </a:solidFill>
                <a:latin typeface="Calibri"/>
              </a:rPr>
              <a:t>Monthly index-level P/B ratios for KOSPI, TOPIX, S&amp;P 500, MSCI EM  ·  2004–2024  ·  1,008 country-months</a:t>
            </a:r>
          </a:p>
          <a:p>
            <a:pPr>
              <a:spcBef>
                <a:spcPts val="700"/>
              </a:spcBef>
            </a:pPr>
            <a:r>
              <a:rPr sz="1400" b="1">
                <a:solidFill>
                  <a:srgbClr val="000000"/>
                </a:solidFill>
                <a:latin typeface="Calibri"/>
              </a:rPr>
              <a:t>Core finding:  </a:t>
            </a:r>
            <a:r>
              <a:rPr sz="1400" b="0">
                <a:solidFill>
                  <a:srgbClr val="000000"/>
                </a:solidFill>
                <a:latin typeface="Calibri"/>
              </a:rPr>
              <a:t>KOSPI P/B averages –0.177× below TOPIX (t = –3.23) and –0.601× below MSCI EM (t = –10.30): a persistent, statistically significant Korea Discount</a:t>
            </a:r>
          </a:p>
          <a:p>
            <a:pPr>
              <a:spcBef>
                <a:spcPts val="700"/>
              </a:spcBef>
            </a:pPr>
            <a:r>
              <a:rPr sz="1400" b="1">
                <a:solidFill>
                  <a:srgbClr val="000000"/>
                </a:solidFill>
                <a:latin typeface="Calibri"/>
              </a:rPr>
              <a:t>Approach:  </a:t>
            </a:r>
            <a:r>
              <a:rPr sz="1400" b="0">
                <a:solidFill>
                  <a:srgbClr val="000000"/>
                </a:solidFill>
                <a:latin typeface="Calibri"/>
              </a:rPr>
              <a:t>Japan's three staged governance reforms used as policy benchmarks; descriptive event-window analysis, panel OLS (wild-bootstrap), and synthetic control</a:t>
            </a:r>
          </a:p>
          <a:p>
            <a:pPr>
              <a:spcBef>
                <a:spcPts val="700"/>
              </a:spcBef>
            </a:pPr>
            <a:r>
              <a:rPr sz="1400" b="1">
                <a:solidFill>
                  <a:srgbClr val="000000"/>
                </a:solidFill>
                <a:latin typeface="Calibri"/>
              </a:rPr>
              <a:t>Caveat:  </a:t>
            </a:r>
            <a:r>
              <a:rPr sz="1400" b="0">
                <a:solidFill>
                  <a:srgbClr val="000000"/>
                </a:solidFill>
                <a:latin typeface="Calibri"/>
              </a:rPr>
              <a:t>N = 4 country clusters; saturated event-window design; evidence is descriptive, not causal</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Research Contributions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Three contributions to the Korea Discount literature</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dirty="0"/>
          </a:p>
          <a:p>
            <a:pPr algn="l">
              <a:spcBef>
                <a:spcPts val="800"/>
              </a:spcBef>
            </a:pPr>
            <a:r>
              <a:rPr sz="1600" b="1" i="0" dirty="0">
                <a:solidFill>
                  <a:srgbClr val="000000"/>
                </a:solidFill>
                <a:latin typeface="Calibri"/>
              </a:rPr>
              <a:t>Contribution 1:  Descriptive event-window analysis</a:t>
            </a:r>
          </a:p>
          <a:p>
            <a:pPr lvl="1" algn="l">
              <a:spcBef>
                <a:spcPts val="200"/>
              </a:spcBef>
            </a:pPr>
            <a:r>
              <a:rPr sz="1400" b="0" i="0" dirty="0">
                <a:solidFill>
                  <a:srgbClr val="000000"/>
                </a:solidFill>
                <a:latin typeface="Calibri"/>
              </a:rPr>
              <a:t>First panel study using all three Japan governance reform dates jointly as descriptive event windows for the KOSPI–TOPIX valuation spread. Documents timing and magnitude of spread movements. Explicitly notes that the saturated design and overlapping 2014–2015 windows do not deliver valid conventional inference.</a:t>
            </a:r>
          </a:p>
          <a:p>
            <a:pPr algn="l">
              <a:spcBef>
                <a:spcPts val="800"/>
              </a:spcBef>
            </a:pPr>
            <a:r>
              <a:rPr sz="1600" b="1" i="0" dirty="0">
                <a:solidFill>
                  <a:srgbClr val="000000"/>
                </a:solidFill>
                <a:latin typeface="Calibri"/>
              </a:rPr>
              <a:t>Contribution 2:  Panel OLS with honest inference</a:t>
            </a:r>
          </a:p>
          <a:p>
            <a:pPr lvl="1" algn="l">
              <a:spcBef>
                <a:spcPts val="200"/>
              </a:spcBef>
            </a:pPr>
            <a:r>
              <a:rPr sz="1400" b="0" i="0" dirty="0">
                <a:solidFill>
                  <a:srgbClr val="000000"/>
                </a:solidFill>
                <a:latin typeface="Calibri"/>
              </a:rPr>
              <a:t>Two-way fixed-effects panel estimates with small-cluster wild-bootstrap p-values (N = 4 countries, 999 Rademacher draws). Shows that reform-by-Japan interaction terms are too noisy — p-values of 0.625, 0.375, and 0.500 — to sustain strong directional claims.</a:t>
            </a:r>
          </a:p>
          <a:p>
            <a:pPr algn="l">
              <a:spcBef>
                <a:spcPts val="800"/>
              </a:spcBef>
            </a:pPr>
            <a:r>
              <a:rPr sz="1600" b="1" i="0" dirty="0">
                <a:solidFill>
                  <a:srgbClr val="000000"/>
                </a:solidFill>
                <a:latin typeface="Calibri"/>
              </a:rPr>
              <a:t>Contribution 3:  Synthetic control diagnostic</a:t>
            </a:r>
          </a:p>
          <a:p>
            <a:pPr lvl="1" algn="l">
              <a:spcBef>
                <a:spcPts val="200"/>
              </a:spcBef>
            </a:pPr>
            <a:r>
              <a:rPr sz="1400" b="0" i="0" dirty="0">
                <a:solidFill>
                  <a:srgbClr val="000000"/>
                </a:solidFill>
                <a:latin typeface="Calibri"/>
              </a:rPr>
              <a:t>Applies Abadie (2010) synthetic control to the 2023 TSE P/B reform. Transparently reports the single-donor weight structure (MSCI EM Asia, weight = 1.0) and pre-treatment RMSPE = 0.1451. Limits interpretation accordingly: the post-reform gap does not isolate a purely idiosyncratic Japan governance premium after accounting for regional equity momentum.</a:t>
            </a:r>
          </a:p>
          <a:p>
            <a:pPr algn="l">
              <a:spcBef>
                <a:spcPts val="800"/>
              </a:spcBef>
            </a:pPr>
            <a:r>
              <a:rPr sz="1300" b="0" i="1" dirty="0">
                <a:solidFill>
                  <a:srgbClr val="595959"/>
                </a:solidFill>
                <a:latin typeface="Calibri"/>
              </a:rPr>
              <a:t>
Road map:  Lit Review → Methodology → Results → 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377440"/>
            <a:ext cx="9144000" cy="1097280"/>
          </a:xfrm>
          <a:prstGeom prst="rect">
            <a:avLst/>
          </a:prstGeom>
          <a:noFill/>
        </p:spPr>
        <p:txBody>
          <a:bodyPr wrap="square">
            <a:spAutoFit/>
          </a:bodyPr>
          <a:lstStyle/>
          <a:p>
            <a:pPr algn="ctr"/>
            <a:r>
              <a:rPr sz="4000" b="1">
                <a:solidFill>
                  <a:srgbClr val="FFFFFF"/>
                </a:solidFill>
                <a:latin typeface="Calibri"/>
              </a:rPr>
              <a:t>Introduction</a:t>
            </a:r>
          </a:p>
        </p:txBody>
      </p:sp>
      <p:sp>
        <p:nvSpPr>
          <p:cNvPr id="4" name="TextBox 3"/>
          <p:cNvSpPr txBox="1"/>
          <p:nvPr/>
        </p:nvSpPr>
        <p:spPr>
          <a:xfrm>
            <a:off x="1371600" y="3520440"/>
            <a:ext cx="9144000" cy="731520"/>
          </a:xfrm>
          <a:prstGeom prst="rect">
            <a:avLst/>
          </a:prstGeom>
          <a:noFill/>
        </p:spPr>
        <p:txBody>
          <a:bodyPr wrap="square">
            <a:spAutoFit/>
          </a:bodyPr>
          <a:lstStyle/>
          <a:p>
            <a:pPr algn="ctr"/>
            <a:r>
              <a:rPr sz="1800" b="0">
                <a:solidFill>
                  <a:srgbClr val="D9D9D9"/>
                </a:solidFill>
                <a:latin typeface="Calibri"/>
              </a:rPr>
              <a:t>The Korea Discount Puzzle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The Korea Discount</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KOSPI equities trade at a persistent structural discount to developed-market and EM peers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dirty="0"/>
          </a:p>
          <a:p>
            <a:pPr algn="l">
              <a:spcBef>
                <a:spcPts val="0"/>
              </a:spcBef>
            </a:pPr>
            <a:r>
              <a:rPr sz="1800" b="1" i="0" dirty="0">
                <a:solidFill>
                  <a:srgbClr val="000000"/>
                </a:solidFill>
                <a:latin typeface="Calibri"/>
              </a:rPr>
              <a:t>The puzzle</a:t>
            </a:r>
          </a:p>
          <a:p>
            <a:pPr algn="l">
              <a:spcBef>
                <a:spcPts val="300"/>
              </a:spcBef>
            </a:pPr>
            <a:r>
              <a:rPr sz="1500" b="0" i="0" dirty="0">
                <a:solidFill>
                  <a:srgbClr val="000000"/>
                </a:solidFill>
                <a:latin typeface="Calibri"/>
              </a:rPr>
              <a:t>Despite Korea's G20 membership, high-income fundamentals, and a well-developed export sector, KOSPI index-level price-to-book ratios have persistently trailed comparable benchmarks for over two decades.</a:t>
            </a:r>
          </a:p>
          <a:p>
            <a:pPr algn="l">
              <a:spcBef>
                <a:spcPts val="800"/>
              </a:spcBef>
            </a:pPr>
            <a:r>
              <a:rPr sz="1800" b="1" i="0" dirty="0">
                <a:solidFill>
                  <a:srgbClr val="000000"/>
                </a:solidFill>
                <a:latin typeface="Calibri"/>
              </a:rPr>
              <a:t>Magnitude of the discount  (2004–2024 average P/B ratios)</a:t>
            </a:r>
          </a:p>
          <a:p>
            <a:pPr algn="l">
              <a:spcBef>
                <a:spcPts val="400"/>
              </a:spcBef>
            </a:pPr>
            <a:r>
              <a:rPr sz="1300" b="0" i="1" dirty="0">
                <a:solidFill>
                  <a:srgbClr val="595959"/>
                </a:solidFill>
                <a:latin typeface="Calibri"/>
              </a:rPr>
              <a:t>
Sub-period: KOSPI P/B fell from 1.36× (2004–2013) → 1.02× (2014–2022) → 0.93× (2023–2024), while TOPIX rebounded to 1.36× after the 2023 TSE P/B reform.</a:t>
            </a:r>
          </a:p>
        </p:txBody>
      </p:sp>
      <p:sp>
        <p:nvSpPr>
          <p:cNvPr id="7" name="Rectangle 6"/>
          <p:cNvSpPr/>
          <p:nvPr/>
        </p:nvSpPr>
        <p:spPr>
          <a:xfrm>
            <a:off x="502920" y="2148840"/>
            <a:ext cx="11155680" cy="127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2743200"/>
            <a:ext cx="182880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3720" y="2794000"/>
            <a:ext cx="1727200" cy="329692"/>
          </a:xfrm>
          <a:prstGeom prst="rect">
            <a:avLst/>
          </a:prstGeom>
          <a:noFill/>
        </p:spPr>
        <p:txBody>
          <a:bodyPr wrap="square">
            <a:spAutoFit/>
          </a:bodyPr>
          <a:lstStyle/>
          <a:p>
            <a:pPr algn="l"/>
            <a:r>
              <a:rPr sz="1300" b="1">
                <a:solidFill>
                  <a:srgbClr val="FFFFFF"/>
                </a:solidFill>
                <a:latin typeface="Calibri"/>
              </a:rPr>
              <a:t>Benchmark</a:t>
            </a:r>
          </a:p>
        </p:txBody>
      </p:sp>
      <p:sp>
        <p:nvSpPr>
          <p:cNvPr id="10" name="Rectangle 9"/>
          <p:cNvSpPr/>
          <p:nvPr/>
        </p:nvSpPr>
        <p:spPr>
          <a:xfrm>
            <a:off x="2377440" y="2743200"/>
            <a:ext cx="155448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28240" y="2794000"/>
            <a:ext cx="1452880" cy="329692"/>
          </a:xfrm>
          <a:prstGeom prst="rect">
            <a:avLst/>
          </a:prstGeom>
          <a:noFill/>
        </p:spPr>
        <p:txBody>
          <a:bodyPr wrap="square">
            <a:spAutoFit/>
          </a:bodyPr>
          <a:lstStyle/>
          <a:p>
            <a:pPr algn="ctr"/>
            <a:r>
              <a:rPr sz="1300" b="1">
                <a:solidFill>
                  <a:srgbClr val="FFFFFF"/>
                </a:solidFill>
                <a:latin typeface="Calibri"/>
              </a:rPr>
              <a:t>KOSPI mean P/B</a:t>
            </a:r>
          </a:p>
        </p:txBody>
      </p:sp>
      <p:sp>
        <p:nvSpPr>
          <p:cNvPr id="12" name="Rectangle 11"/>
          <p:cNvSpPr/>
          <p:nvPr/>
        </p:nvSpPr>
        <p:spPr>
          <a:xfrm>
            <a:off x="3977639" y="2743200"/>
            <a:ext cx="182880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8439" y="2794000"/>
            <a:ext cx="1727200" cy="329692"/>
          </a:xfrm>
          <a:prstGeom prst="rect">
            <a:avLst/>
          </a:prstGeom>
          <a:noFill/>
        </p:spPr>
        <p:txBody>
          <a:bodyPr wrap="square">
            <a:spAutoFit/>
          </a:bodyPr>
          <a:lstStyle/>
          <a:p>
            <a:pPr algn="ctr"/>
            <a:r>
              <a:rPr sz="1300" b="1">
                <a:solidFill>
                  <a:srgbClr val="FFFFFF"/>
                </a:solidFill>
                <a:latin typeface="Calibri"/>
              </a:rPr>
              <a:t>Benchmark mean P/B</a:t>
            </a:r>
          </a:p>
        </p:txBody>
      </p:sp>
      <p:sp>
        <p:nvSpPr>
          <p:cNvPr id="14" name="Rectangle 13"/>
          <p:cNvSpPr/>
          <p:nvPr/>
        </p:nvSpPr>
        <p:spPr>
          <a:xfrm>
            <a:off x="5852160" y="2743200"/>
            <a:ext cx="137160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02960" y="2794000"/>
            <a:ext cx="1270000" cy="329692"/>
          </a:xfrm>
          <a:prstGeom prst="rect">
            <a:avLst/>
          </a:prstGeom>
          <a:noFill/>
        </p:spPr>
        <p:txBody>
          <a:bodyPr wrap="square">
            <a:spAutoFit/>
          </a:bodyPr>
          <a:lstStyle/>
          <a:p>
            <a:pPr algn="ctr"/>
            <a:r>
              <a:rPr sz="1300" b="1">
                <a:solidFill>
                  <a:srgbClr val="FFFFFF"/>
                </a:solidFill>
                <a:latin typeface="Calibri"/>
              </a:rPr>
              <a:t>Mean gap</a:t>
            </a:r>
          </a:p>
        </p:txBody>
      </p:sp>
      <p:sp>
        <p:nvSpPr>
          <p:cNvPr id="16" name="Rectangle 15"/>
          <p:cNvSpPr/>
          <p:nvPr/>
        </p:nvSpPr>
        <p:spPr>
          <a:xfrm>
            <a:off x="7269480" y="2743200"/>
            <a:ext cx="146304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20280" y="2794000"/>
            <a:ext cx="1361440" cy="329692"/>
          </a:xfrm>
          <a:prstGeom prst="rect">
            <a:avLst/>
          </a:prstGeom>
          <a:noFill/>
        </p:spPr>
        <p:txBody>
          <a:bodyPr wrap="square">
            <a:spAutoFit/>
          </a:bodyPr>
          <a:lstStyle/>
          <a:p>
            <a:pPr algn="ctr"/>
            <a:r>
              <a:rPr sz="1300" b="1">
                <a:solidFill>
                  <a:srgbClr val="FFFFFF"/>
                </a:solidFill>
                <a:latin typeface="Calibri"/>
              </a:rPr>
              <a:t>t-statistic</a:t>
            </a:r>
          </a:p>
        </p:txBody>
      </p:sp>
      <p:sp>
        <p:nvSpPr>
          <p:cNvPr id="18" name="Rectangle 17"/>
          <p:cNvSpPr/>
          <p:nvPr/>
        </p:nvSpPr>
        <p:spPr>
          <a:xfrm>
            <a:off x="8778240" y="2743200"/>
            <a:ext cx="2286000" cy="3931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29040" y="2794000"/>
            <a:ext cx="2184400" cy="329692"/>
          </a:xfrm>
          <a:prstGeom prst="rect">
            <a:avLst/>
          </a:prstGeom>
          <a:noFill/>
        </p:spPr>
        <p:txBody>
          <a:bodyPr wrap="square">
            <a:spAutoFit/>
          </a:bodyPr>
          <a:lstStyle/>
          <a:p>
            <a:pPr algn="ctr"/>
            <a:r>
              <a:rPr sz="1300" b="1">
                <a:solidFill>
                  <a:srgbClr val="FFFFFF"/>
                </a:solidFill>
                <a:latin typeface="Calibri"/>
              </a:rPr>
              <a:t>95% CI</a:t>
            </a:r>
          </a:p>
        </p:txBody>
      </p:sp>
      <p:sp>
        <p:nvSpPr>
          <p:cNvPr id="20" name="Rectangle 19"/>
          <p:cNvSpPr/>
          <p:nvPr/>
        </p:nvSpPr>
        <p:spPr>
          <a:xfrm>
            <a:off x="502920" y="3136392"/>
            <a:ext cx="1828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720" y="3187192"/>
            <a:ext cx="1727200" cy="329692"/>
          </a:xfrm>
          <a:prstGeom prst="rect">
            <a:avLst/>
          </a:prstGeom>
          <a:noFill/>
        </p:spPr>
        <p:txBody>
          <a:bodyPr wrap="square">
            <a:spAutoFit/>
          </a:bodyPr>
          <a:lstStyle/>
          <a:p>
            <a:pPr algn="l"/>
            <a:r>
              <a:rPr sz="1300" b="0">
                <a:solidFill>
                  <a:srgbClr val="000000"/>
                </a:solidFill>
                <a:latin typeface="Calibri"/>
              </a:rPr>
              <a:t>TOPIX</a:t>
            </a:r>
          </a:p>
        </p:txBody>
      </p:sp>
      <p:sp>
        <p:nvSpPr>
          <p:cNvPr id="22" name="Rectangle 21"/>
          <p:cNvSpPr/>
          <p:nvPr/>
        </p:nvSpPr>
        <p:spPr>
          <a:xfrm>
            <a:off x="2377440" y="3136392"/>
            <a:ext cx="155448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28240" y="3187192"/>
            <a:ext cx="1452880" cy="329692"/>
          </a:xfrm>
          <a:prstGeom prst="rect">
            <a:avLst/>
          </a:prstGeom>
          <a:noFill/>
        </p:spPr>
        <p:txBody>
          <a:bodyPr wrap="square">
            <a:spAutoFit/>
          </a:bodyPr>
          <a:lstStyle/>
          <a:p>
            <a:pPr algn="ctr"/>
            <a:r>
              <a:rPr sz="1300" b="0">
                <a:solidFill>
                  <a:srgbClr val="000000"/>
                </a:solidFill>
                <a:latin typeface="Calibri"/>
              </a:rPr>
              <a:t>1.18×</a:t>
            </a:r>
          </a:p>
        </p:txBody>
      </p:sp>
      <p:sp>
        <p:nvSpPr>
          <p:cNvPr id="24" name="Rectangle 23"/>
          <p:cNvSpPr/>
          <p:nvPr/>
        </p:nvSpPr>
        <p:spPr>
          <a:xfrm>
            <a:off x="3977639" y="3136392"/>
            <a:ext cx="1828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28439" y="3187192"/>
            <a:ext cx="1727200" cy="329692"/>
          </a:xfrm>
          <a:prstGeom prst="rect">
            <a:avLst/>
          </a:prstGeom>
          <a:noFill/>
        </p:spPr>
        <p:txBody>
          <a:bodyPr wrap="square">
            <a:spAutoFit/>
          </a:bodyPr>
          <a:lstStyle/>
          <a:p>
            <a:pPr algn="ctr"/>
            <a:r>
              <a:rPr sz="1300" b="0">
                <a:solidFill>
                  <a:srgbClr val="000000"/>
                </a:solidFill>
                <a:latin typeface="Calibri"/>
              </a:rPr>
              <a:t>1.35×</a:t>
            </a:r>
          </a:p>
        </p:txBody>
      </p:sp>
      <p:sp>
        <p:nvSpPr>
          <p:cNvPr id="26" name="Rectangle 25"/>
          <p:cNvSpPr/>
          <p:nvPr/>
        </p:nvSpPr>
        <p:spPr>
          <a:xfrm>
            <a:off x="5852160" y="3136392"/>
            <a:ext cx="13716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02960" y="3187192"/>
            <a:ext cx="1270000" cy="329692"/>
          </a:xfrm>
          <a:prstGeom prst="rect">
            <a:avLst/>
          </a:prstGeom>
          <a:noFill/>
        </p:spPr>
        <p:txBody>
          <a:bodyPr wrap="square">
            <a:spAutoFit/>
          </a:bodyPr>
          <a:lstStyle/>
          <a:p>
            <a:pPr algn="ctr"/>
            <a:r>
              <a:rPr sz="1300" b="0">
                <a:solidFill>
                  <a:srgbClr val="000000"/>
                </a:solidFill>
                <a:latin typeface="Calibri"/>
              </a:rPr>
              <a:t>–0.177×</a:t>
            </a:r>
          </a:p>
        </p:txBody>
      </p:sp>
      <p:sp>
        <p:nvSpPr>
          <p:cNvPr id="28" name="Rectangle 27"/>
          <p:cNvSpPr/>
          <p:nvPr/>
        </p:nvSpPr>
        <p:spPr>
          <a:xfrm>
            <a:off x="7269480" y="3136392"/>
            <a:ext cx="146304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20280" y="3187192"/>
            <a:ext cx="1361440" cy="329692"/>
          </a:xfrm>
          <a:prstGeom prst="rect">
            <a:avLst/>
          </a:prstGeom>
          <a:noFill/>
        </p:spPr>
        <p:txBody>
          <a:bodyPr wrap="square">
            <a:spAutoFit/>
          </a:bodyPr>
          <a:lstStyle/>
          <a:p>
            <a:pPr algn="ctr"/>
            <a:r>
              <a:rPr sz="1300" b="0">
                <a:solidFill>
                  <a:srgbClr val="000000"/>
                </a:solidFill>
                <a:latin typeface="Calibri"/>
              </a:rPr>
              <a:t>–3.23</a:t>
            </a:r>
          </a:p>
        </p:txBody>
      </p:sp>
      <p:sp>
        <p:nvSpPr>
          <p:cNvPr id="30" name="Rectangle 29"/>
          <p:cNvSpPr/>
          <p:nvPr/>
        </p:nvSpPr>
        <p:spPr>
          <a:xfrm>
            <a:off x="8778240" y="3136392"/>
            <a:ext cx="22860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29040" y="3187192"/>
            <a:ext cx="2184400" cy="329692"/>
          </a:xfrm>
          <a:prstGeom prst="rect">
            <a:avLst/>
          </a:prstGeom>
          <a:noFill/>
        </p:spPr>
        <p:txBody>
          <a:bodyPr wrap="square">
            <a:spAutoFit/>
          </a:bodyPr>
          <a:lstStyle/>
          <a:p>
            <a:pPr algn="ctr"/>
            <a:r>
              <a:rPr sz="1300" b="0">
                <a:solidFill>
                  <a:srgbClr val="000000"/>
                </a:solidFill>
                <a:latin typeface="Calibri"/>
              </a:rPr>
              <a:t>[–0.284×, –0.069×]</a:t>
            </a:r>
          </a:p>
        </p:txBody>
      </p:sp>
      <p:sp>
        <p:nvSpPr>
          <p:cNvPr id="32" name="Rectangle 31"/>
          <p:cNvSpPr/>
          <p:nvPr/>
        </p:nvSpPr>
        <p:spPr>
          <a:xfrm>
            <a:off x="502920" y="3529584"/>
            <a:ext cx="182880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53720" y="3580384"/>
            <a:ext cx="1727200" cy="329692"/>
          </a:xfrm>
          <a:prstGeom prst="rect">
            <a:avLst/>
          </a:prstGeom>
          <a:noFill/>
        </p:spPr>
        <p:txBody>
          <a:bodyPr wrap="square">
            <a:spAutoFit/>
          </a:bodyPr>
          <a:lstStyle/>
          <a:p>
            <a:pPr algn="l"/>
            <a:r>
              <a:rPr sz="1300" b="0">
                <a:solidFill>
                  <a:srgbClr val="000000"/>
                </a:solidFill>
                <a:latin typeface="Calibri"/>
              </a:rPr>
              <a:t>MSCI EM</a:t>
            </a:r>
          </a:p>
        </p:txBody>
      </p:sp>
      <p:sp>
        <p:nvSpPr>
          <p:cNvPr id="34" name="Rectangle 33"/>
          <p:cNvSpPr/>
          <p:nvPr/>
        </p:nvSpPr>
        <p:spPr>
          <a:xfrm>
            <a:off x="2377440" y="3529584"/>
            <a:ext cx="155448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28240" y="3580384"/>
            <a:ext cx="1452880" cy="329692"/>
          </a:xfrm>
          <a:prstGeom prst="rect">
            <a:avLst/>
          </a:prstGeom>
          <a:noFill/>
        </p:spPr>
        <p:txBody>
          <a:bodyPr wrap="square">
            <a:spAutoFit/>
          </a:bodyPr>
          <a:lstStyle/>
          <a:p>
            <a:pPr algn="ctr"/>
            <a:r>
              <a:rPr sz="1300" b="0">
                <a:solidFill>
                  <a:srgbClr val="000000"/>
                </a:solidFill>
                <a:latin typeface="Calibri"/>
              </a:rPr>
              <a:t>1.18×</a:t>
            </a:r>
          </a:p>
        </p:txBody>
      </p:sp>
      <p:sp>
        <p:nvSpPr>
          <p:cNvPr id="36" name="Rectangle 35"/>
          <p:cNvSpPr/>
          <p:nvPr/>
        </p:nvSpPr>
        <p:spPr>
          <a:xfrm>
            <a:off x="3977639" y="3529584"/>
            <a:ext cx="182880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28439" y="3580384"/>
            <a:ext cx="1727200" cy="329692"/>
          </a:xfrm>
          <a:prstGeom prst="rect">
            <a:avLst/>
          </a:prstGeom>
          <a:noFill/>
        </p:spPr>
        <p:txBody>
          <a:bodyPr wrap="square">
            <a:spAutoFit/>
          </a:bodyPr>
          <a:lstStyle/>
          <a:p>
            <a:pPr algn="ctr"/>
            <a:r>
              <a:rPr sz="1300" b="0">
                <a:solidFill>
                  <a:srgbClr val="000000"/>
                </a:solidFill>
                <a:latin typeface="Calibri"/>
              </a:rPr>
              <a:t>1.78×</a:t>
            </a:r>
          </a:p>
        </p:txBody>
      </p:sp>
      <p:sp>
        <p:nvSpPr>
          <p:cNvPr id="38" name="Rectangle 37"/>
          <p:cNvSpPr/>
          <p:nvPr/>
        </p:nvSpPr>
        <p:spPr>
          <a:xfrm>
            <a:off x="5852160" y="3529584"/>
            <a:ext cx="137160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02960" y="3580384"/>
            <a:ext cx="1270000" cy="329692"/>
          </a:xfrm>
          <a:prstGeom prst="rect">
            <a:avLst/>
          </a:prstGeom>
          <a:noFill/>
        </p:spPr>
        <p:txBody>
          <a:bodyPr wrap="square">
            <a:spAutoFit/>
          </a:bodyPr>
          <a:lstStyle/>
          <a:p>
            <a:pPr algn="ctr"/>
            <a:r>
              <a:rPr sz="1300" b="0">
                <a:solidFill>
                  <a:srgbClr val="000000"/>
                </a:solidFill>
                <a:latin typeface="Calibri"/>
              </a:rPr>
              <a:t>–0.601×</a:t>
            </a:r>
          </a:p>
        </p:txBody>
      </p:sp>
      <p:sp>
        <p:nvSpPr>
          <p:cNvPr id="40" name="Rectangle 39"/>
          <p:cNvSpPr/>
          <p:nvPr/>
        </p:nvSpPr>
        <p:spPr>
          <a:xfrm>
            <a:off x="7269480" y="3529584"/>
            <a:ext cx="146304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20280" y="3580384"/>
            <a:ext cx="1361440" cy="329692"/>
          </a:xfrm>
          <a:prstGeom prst="rect">
            <a:avLst/>
          </a:prstGeom>
          <a:noFill/>
        </p:spPr>
        <p:txBody>
          <a:bodyPr wrap="square">
            <a:spAutoFit/>
          </a:bodyPr>
          <a:lstStyle/>
          <a:p>
            <a:pPr algn="ctr"/>
            <a:r>
              <a:rPr sz="1300" b="0">
                <a:solidFill>
                  <a:srgbClr val="000000"/>
                </a:solidFill>
                <a:latin typeface="Calibri"/>
              </a:rPr>
              <a:t>–10.30</a:t>
            </a:r>
          </a:p>
        </p:txBody>
      </p:sp>
      <p:sp>
        <p:nvSpPr>
          <p:cNvPr id="42" name="Rectangle 41"/>
          <p:cNvSpPr/>
          <p:nvPr/>
        </p:nvSpPr>
        <p:spPr>
          <a:xfrm>
            <a:off x="8778240" y="3529584"/>
            <a:ext cx="2286000" cy="393192"/>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829040" y="3580384"/>
            <a:ext cx="2184400" cy="329692"/>
          </a:xfrm>
          <a:prstGeom prst="rect">
            <a:avLst/>
          </a:prstGeom>
          <a:noFill/>
        </p:spPr>
        <p:txBody>
          <a:bodyPr wrap="square">
            <a:spAutoFit/>
          </a:bodyPr>
          <a:lstStyle/>
          <a:p>
            <a:pPr algn="ctr"/>
            <a:r>
              <a:rPr sz="1300" b="0">
                <a:solidFill>
                  <a:srgbClr val="000000"/>
                </a:solidFill>
                <a:latin typeface="Calibri"/>
              </a:rPr>
              <a:t>[–0.716×, –0.486×]</a:t>
            </a:r>
          </a:p>
        </p:txBody>
      </p:sp>
      <p:sp>
        <p:nvSpPr>
          <p:cNvPr id="44" name="Rectangle 43"/>
          <p:cNvSpPr/>
          <p:nvPr/>
        </p:nvSpPr>
        <p:spPr>
          <a:xfrm>
            <a:off x="502920" y="3922776"/>
            <a:ext cx="1828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53720" y="3973576"/>
            <a:ext cx="1727200" cy="329692"/>
          </a:xfrm>
          <a:prstGeom prst="rect">
            <a:avLst/>
          </a:prstGeom>
          <a:noFill/>
        </p:spPr>
        <p:txBody>
          <a:bodyPr wrap="square">
            <a:spAutoFit/>
          </a:bodyPr>
          <a:lstStyle/>
          <a:p>
            <a:pPr algn="l"/>
            <a:r>
              <a:rPr sz="1300" b="0">
                <a:solidFill>
                  <a:srgbClr val="000000"/>
                </a:solidFill>
                <a:latin typeface="Calibri"/>
              </a:rPr>
              <a:t>S&amp;P 500</a:t>
            </a:r>
          </a:p>
        </p:txBody>
      </p:sp>
      <p:sp>
        <p:nvSpPr>
          <p:cNvPr id="46" name="Rectangle 45"/>
          <p:cNvSpPr/>
          <p:nvPr/>
        </p:nvSpPr>
        <p:spPr>
          <a:xfrm>
            <a:off x="2377440" y="3922776"/>
            <a:ext cx="155448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428240" y="3973576"/>
            <a:ext cx="1452880" cy="329692"/>
          </a:xfrm>
          <a:prstGeom prst="rect">
            <a:avLst/>
          </a:prstGeom>
          <a:noFill/>
        </p:spPr>
        <p:txBody>
          <a:bodyPr wrap="square">
            <a:spAutoFit/>
          </a:bodyPr>
          <a:lstStyle/>
          <a:p>
            <a:pPr algn="ctr"/>
            <a:r>
              <a:rPr sz="1300" b="0">
                <a:solidFill>
                  <a:srgbClr val="000000"/>
                </a:solidFill>
                <a:latin typeface="Calibri"/>
              </a:rPr>
              <a:t>1.18×</a:t>
            </a:r>
          </a:p>
        </p:txBody>
      </p:sp>
      <p:sp>
        <p:nvSpPr>
          <p:cNvPr id="48" name="Rectangle 47"/>
          <p:cNvSpPr/>
          <p:nvPr/>
        </p:nvSpPr>
        <p:spPr>
          <a:xfrm>
            <a:off x="3977639" y="3922776"/>
            <a:ext cx="1828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028439" y="3973576"/>
            <a:ext cx="1727200" cy="329692"/>
          </a:xfrm>
          <a:prstGeom prst="rect">
            <a:avLst/>
          </a:prstGeom>
          <a:noFill/>
        </p:spPr>
        <p:txBody>
          <a:bodyPr wrap="square">
            <a:spAutoFit/>
          </a:bodyPr>
          <a:lstStyle/>
          <a:p>
            <a:pPr algn="ctr"/>
            <a:r>
              <a:rPr sz="1300" b="0">
                <a:solidFill>
                  <a:srgbClr val="000000"/>
                </a:solidFill>
                <a:latin typeface="Calibri"/>
              </a:rPr>
              <a:t>3.08×</a:t>
            </a:r>
          </a:p>
        </p:txBody>
      </p:sp>
      <p:sp>
        <p:nvSpPr>
          <p:cNvPr id="50" name="Rectangle 49"/>
          <p:cNvSpPr/>
          <p:nvPr/>
        </p:nvSpPr>
        <p:spPr>
          <a:xfrm>
            <a:off x="5852160" y="3922776"/>
            <a:ext cx="13716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02960" y="3973576"/>
            <a:ext cx="1270000" cy="329692"/>
          </a:xfrm>
          <a:prstGeom prst="rect">
            <a:avLst/>
          </a:prstGeom>
          <a:noFill/>
        </p:spPr>
        <p:txBody>
          <a:bodyPr wrap="square">
            <a:spAutoFit/>
          </a:bodyPr>
          <a:lstStyle/>
          <a:p>
            <a:pPr algn="ctr"/>
            <a:r>
              <a:rPr sz="1300" b="0">
                <a:solidFill>
                  <a:srgbClr val="000000"/>
                </a:solidFill>
                <a:latin typeface="Calibri"/>
              </a:rPr>
              <a:t>–1.90×</a:t>
            </a:r>
          </a:p>
        </p:txBody>
      </p:sp>
      <p:sp>
        <p:nvSpPr>
          <p:cNvPr id="52" name="Rectangle 51"/>
          <p:cNvSpPr/>
          <p:nvPr/>
        </p:nvSpPr>
        <p:spPr>
          <a:xfrm>
            <a:off x="7269480" y="3922776"/>
            <a:ext cx="146304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20280" y="3973576"/>
            <a:ext cx="1361440" cy="329692"/>
          </a:xfrm>
          <a:prstGeom prst="rect">
            <a:avLst/>
          </a:prstGeom>
          <a:noFill/>
        </p:spPr>
        <p:txBody>
          <a:bodyPr wrap="square">
            <a:spAutoFit/>
          </a:bodyPr>
          <a:lstStyle/>
          <a:p>
            <a:pPr algn="ctr"/>
            <a:r>
              <a:rPr sz="1300" b="0">
                <a:solidFill>
                  <a:srgbClr val="000000"/>
                </a:solidFill>
                <a:latin typeface="Calibri"/>
              </a:rPr>
              <a:t>—</a:t>
            </a:r>
          </a:p>
        </p:txBody>
      </p:sp>
      <p:sp>
        <p:nvSpPr>
          <p:cNvPr id="54" name="Rectangle 53"/>
          <p:cNvSpPr/>
          <p:nvPr/>
        </p:nvSpPr>
        <p:spPr>
          <a:xfrm>
            <a:off x="8778240" y="3922776"/>
            <a:ext cx="22860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829040" y="3973576"/>
            <a:ext cx="2184400" cy="329692"/>
          </a:xfrm>
          <a:prstGeom prst="rect">
            <a:avLst/>
          </a:prstGeom>
          <a:noFill/>
        </p:spPr>
        <p:txBody>
          <a:bodyPr wrap="square">
            <a:spAutoFit/>
          </a:bodyPr>
          <a:lstStyle/>
          <a:p>
            <a:pPr algn="ctr"/>
            <a:r>
              <a:rPr sz="1300" b="0">
                <a:solidFill>
                  <a:srgbClr val="000000"/>
                </a:solidFill>
                <a:latin typeface="Calibr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377440"/>
            <a:ext cx="9144000" cy="1097280"/>
          </a:xfrm>
          <a:prstGeom prst="rect">
            <a:avLst/>
          </a:prstGeom>
          <a:noFill/>
        </p:spPr>
        <p:txBody>
          <a:bodyPr wrap="square">
            <a:spAutoFit/>
          </a:bodyPr>
          <a:lstStyle/>
          <a:p>
            <a:pPr algn="ctr"/>
            <a:r>
              <a:rPr sz="4000" b="1">
                <a:solidFill>
                  <a:srgbClr val="FFFFFF"/>
                </a:solidFill>
                <a:latin typeface="Calibri"/>
              </a:rPr>
              <a:t>Literature Review</a:t>
            </a:r>
          </a:p>
        </p:txBody>
      </p:sp>
      <p:sp>
        <p:nvSpPr>
          <p:cNvPr id="4" name="TextBox 3"/>
          <p:cNvSpPr txBox="1"/>
          <p:nvPr/>
        </p:nvSpPr>
        <p:spPr>
          <a:xfrm>
            <a:off x="1371600" y="3520440"/>
            <a:ext cx="9144000" cy="731520"/>
          </a:xfrm>
          <a:prstGeom prst="rect">
            <a:avLst/>
          </a:prstGeom>
          <a:noFill/>
        </p:spPr>
        <p:txBody>
          <a:bodyPr wrap="square">
            <a:spAutoFit/>
          </a:bodyPr>
          <a:lstStyle/>
          <a:p>
            <a:pPr algn="ctr"/>
            <a:r>
              <a:rPr sz="1800" b="0">
                <a:solidFill>
                  <a:srgbClr val="D9D9D9"/>
                </a:solidFill>
                <a:latin typeface="Calibri"/>
              </a:rPr>
              <a:t>Chaebol Structure · Japan Reforms · Governance Theory · Geopolitical Risk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The Korea Discount: Prior Evidence</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Chaebol ownership architecture and principal–principal agency costs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dirty="0"/>
          </a:p>
          <a:p>
            <a:pPr algn="l">
              <a:spcBef>
                <a:spcPts val="0"/>
              </a:spcBef>
            </a:pPr>
            <a:r>
              <a:rPr sz="1700" b="1" i="0" dirty="0">
                <a:solidFill>
                  <a:srgbClr val="000000"/>
                </a:solidFill>
                <a:latin typeface="Calibri"/>
              </a:rPr>
              <a:t>Chaebol structure (Claessens et al. 2000; Baek et al. 2004)</a:t>
            </a:r>
          </a:p>
          <a:p>
            <a:pPr lvl="1" algn="l">
              <a:spcBef>
                <a:spcPts val="200"/>
              </a:spcBef>
            </a:pPr>
            <a:r>
              <a:rPr sz="1400" b="0" i="0" dirty="0">
                <a:solidFill>
                  <a:srgbClr val="000000"/>
                </a:solidFill>
                <a:latin typeface="Calibri"/>
              </a:rPr>
              <a:t>•  Family-controlled conglomerates dominate KOSPI; control-to-cash-flow ratio ≈ 2:1 (highest in East Asia)</a:t>
            </a:r>
          </a:p>
          <a:p>
            <a:pPr lvl="1" algn="l">
              <a:spcBef>
                <a:spcPts val="200"/>
              </a:spcBef>
            </a:pPr>
            <a:r>
              <a:rPr sz="1400" b="0" i="0" dirty="0">
                <a:solidFill>
                  <a:srgbClr val="000000"/>
                </a:solidFill>
                <a:latin typeface="Calibri"/>
              </a:rPr>
              <a:t>•  Principal–principal agency problem: controlling family vs. minority shareholders (distinct from Jensen-Meckling)</a:t>
            </a:r>
          </a:p>
          <a:p>
            <a:pPr lvl="1" algn="l">
              <a:spcBef>
                <a:spcPts val="200"/>
              </a:spcBef>
            </a:pPr>
            <a:r>
              <a:rPr sz="1400" b="0" i="0" dirty="0">
                <a:solidFill>
                  <a:srgbClr val="000000"/>
                </a:solidFill>
                <a:latin typeface="Calibri"/>
              </a:rPr>
              <a:t>•  Tunneling: intra-group related-party transactions that extract private benefits at minority expense</a:t>
            </a:r>
          </a:p>
          <a:p>
            <a:pPr lvl="1" algn="l">
              <a:spcBef>
                <a:spcPts val="200"/>
              </a:spcBef>
            </a:pPr>
            <a:r>
              <a:rPr sz="1400" b="0" i="0" dirty="0">
                <a:solidFill>
                  <a:srgbClr val="000000"/>
                </a:solidFill>
                <a:latin typeface="Calibri"/>
              </a:rPr>
              <a:t>•  Families incentivized to keep share prices depressed (Korea inheritance tax up to 60%, applied to market value)</a:t>
            </a:r>
          </a:p>
          <a:p>
            <a:pPr lvl="1" algn="l">
              <a:spcBef>
                <a:spcPts val="200"/>
              </a:spcBef>
            </a:pPr>
            <a:r>
              <a:rPr sz="1400" b="0" i="0" dirty="0">
                <a:solidFill>
                  <a:srgbClr val="000000"/>
                </a:solidFill>
                <a:latin typeface="Calibri"/>
              </a:rPr>
              <a:t>•  "Double-counting" in index-level valuation inflates book denominator → mechanically lower P/B</a:t>
            </a:r>
          </a:p>
          <a:p>
            <a:pPr algn="l">
              <a:spcBef>
                <a:spcPts val="800"/>
              </a:spcBef>
            </a:pPr>
            <a:r>
              <a:rPr sz="1700" b="1" i="0" dirty="0">
                <a:solidFill>
                  <a:srgbClr val="000000"/>
                </a:solidFill>
                <a:latin typeface="Calibri"/>
              </a:rPr>
              <a:t>Key empirical findings</a:t>
            </a:r>
          </a:p>
          <a:p>
            <a:pPr lvl="1" algn="l">
              <a:spcBef>
                <a:spcPts val="200"/>
              </a:spcBef>
            </a:pPr>
            <a:r>
              <a:rPr sz="1400" b="0" i="0" dirty="0">
                <a:solidFill>
                  <a:srgbClr val="000000"/>
                </a:solidFill>
                <a:latin typeface="Calibri"/>
              </a:rPr>
              <a:t>•  Baek et al. (2004): Firms with larger control–cash-flow wedge saw larger equity declines in 1997 crisis</a:t>
            </a:r>
          </a:p>
          <a:p>
            <a:pPr lvl="1" algn="l">
              <a:spcBef>
                <a:spcPts val="200"/>
              </a:spcBef>
            </a:pPr>
            <a:r>
              <a:rPr sz="1400" b="0" i="0" dirty="0">
                <a:solidFill>
                  <a:srgbClr val="000000"/>
                </a:solidFill>
                <a:latin typeface="Calibri"/>
              </a:rPr>
              <a:t>•  Black et al. (2006): Higher KCGI governance index → significantly higher Tobin's q (panel OLS, firm-level)</a:t>
            </a:r>
          </a:p>
          <a:p>
            <a:pPr lvl="1" algn="l">
              <a:spcBef>
                <a:spcPts val="200"/>
              </a:spcBef>
            </a:pPr>
            <a:r>
              <a:rPr sz="1400" b="0" i="0" dirty="0">
                <a:solidFill>
                  <a:srgbClr val="000000"/>
                </a:solidFill>
                <a:latin typeface="Calibri"/>
              </a:rPr>
              <a:t>•  KCMI (2023): Four channels — governance structure, low shareholder returns, market accessibility, inheritance tax</a:t>
            </a:r>
          </a:p>
          <a:p>
            <a:pPr lvl="1" algn="l">
              <a:spcBef>
                <a:spcPts val="200"/>
              </a:spcBef>
            </a:pPr>
            <a:r>
              <a:rPr sz="1400" b="0" i="0" dirty="0">
                <a:solidFill>
                  <a:srgbClr val="000000"/>
                </a:solidFill>
                <a:latin typeface="Calibri"/>
              </a:rPr>
              <a:t>•  This paper: operates at country-level index — fills firm-level literature's gap on macro reform shocks, at the cost of N = 1 treated country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Japan's Governance Reform Program</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Three staged interventions — policy benchmarks, not clean natural experiments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34440"/>
            <a:ext cx="1371600" cy="15087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3720" y="1336040"/>
            <a:ext cx="1270000" cy="1356360"/>
          </a:xfrm>
          <a:prstGeom prst="rect">
            <a:avLst/>
          </a:prstGeom>
          <a:noFill/>
        </p:spPr>
        <p:txBody>
          <a:bodyPr wrap="square">
            <a:spAutoFit/>
          </a:bodyPr>
          <a:lstStyle/>
          <a:p>
            <a:pPr algn="ctr"/>
            <a:r>
              <a:rPr sz="1600" b="1">
                <a:solidFill>
                  <a:srgbClr val="FFFFFF"/>
                </a:solidFill>
                <a:latin typeface="Calibri"/>
              </a:rPr>
              <a:t>Feb 2014</a:t>
            </a:r>
          </a:p>
        </p:txBody>
      </p:sp>
      <p:sp>
        <p:nvSpPr>
          <p:cNvPr id="8" name="Rectangle 7"/>
          <p:cNvSpPr/>
          <p:nvPr/>
        </p:nvSpPr>
        <p:spPr>
          <a:xfrm>
            <a:off x="1920240" y="1234440"/>
            <a:ext cx="2286000" cy="1508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96440" y="1336040"/>
            <a:ext cx="2133600" cy="1356360"/>
          </a:xfrm>
          <a:prstGeom prst="rect">
            <a:avLst/>
          </a:prstGeom>
          <a:noFill/>
        </p:spPr>
        <p:txBody>
          <a:bodyPr wrap="square">
            <a:spAutoFit/>
          </a:bodyPr>
          <a:lstStyle/>
          <a:p>
            <a:r>
              <a:rPr sz="1400" b="1">
                <a:solidFill>
                  <a:srgbClr val="FFFFFF"/>
                </a:solidFill>
                <a:latin typeface="Calibri"/>
              </a:rPr>
              <a:t>Japan Stewardship Code</a:t>
            </a:r>
          </a:p>
        </p:txBody>
      </p:sp>
      <p:sp>
        <p:nvSpPr>
          <p:cNvPr id="10" name="Rectangle 9"/>
          <p:cNvSpPr/>
          <p:nvPr/>
        </p:nvSpPr>
        <p:spPr>
          <a:xfrm>
            <a:off x="4251960" y="1234440"/>
            <a:ext cx="7589520" cy="150876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28160" y="1310640"/>
            <a:ext cx="7437120" cy="1407160"/>
          </a:xfrm>
          <a:prstGeom prst="rect">
            <a:avLst/>
          </a:prstGeom>
          <a:noFill/>
        </p:spPr>
        <p:txBody>
          <a:bodyPr wrap="square">
            <a:spAutoFit/>
          </a:bodyPr>
          <a:lstStyle/>
          <a:p>
            <a:r>
              <a:rPr sz="1200">
                <a:solidFill>
                  <a:srgbClr val="000000"/>
                </a:solidFill>
                <a:latin typeface="Calibri"/>
              </a:rPr>
              <a:t>FSA required institutional investors to adopt engagement policies and disclose voting records. Comply-or-explain format. Miyajima (2023): accelerated unwinding of keiretsu cross-shareholdings; firms with larger cross-holding reductions showed commensurately larger Tobin's q improvements.</a:t>
            </a:r>
          </a:p>
        </p:txBody>
      </p:sp>
      <p:sp>
        <p:nvSpPr>
          <p:cNvPr id="12" name="Rectangle 11"/>
          <p:cNvSpPr/>
          <p:nvPr/>
        </p:nvSpPr>
        <p:spPr>
          <a:xfrm>
            <a:off x="502920" y="2743200"/>
            <a:ext cx="1371600" cy="15087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3720" y="2844800"/>
            <a:ext cx="1270000" cy="1356360"/>
          </a:xfrm>
          <a:prstGeom prst="rect">
            <a:avLst/>
          </a:prstGeom>
          <a:noFill/>
        </p:spPr>
        <p:txBody>
          <a:bodyPr wrap="square">
            <a:spAutoFit/>
          </a:bodyPr>
          <a:lstStyle/>
          <a:p>
            <a:pPr algn="ctr"/>
            <a:r>
              <a:rPr sz="1600" b="1">
                <a:solidFill>
                  <a:srgbClr val="FFFFFF"/>
                </a:solidFill>
                <a:latin typeface="Calibri"/>
              </a:rPr>
              <a:t>Jun 2015</a:t>
            </a:r>
          </a:p>
        </p:txBody>
      </p:sp>
      <p:sp>
        <p:nvSpPr>
          <p:cNvPr id="14" name="Rectangle 13"/>
          <p:cNvSpPr/>
          <p:nvPr/>
        </p:nvSpPr>
        <p:spPr>
          <a:xfrm>
            <a:off x="1920240" y="2743200"/>
            <a:ext cx="2286000" cy="1508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96440" y="2844800"/>
            <a:ext cx="2133600" cy="1356360"/>
          </a:xfrm>
          <a:prstGeom prst="rect">
            <a:avLst/>
          </a:prstGeom>
          <a:noFill/>
        </p:spPr>
        <p:txBody>
          <a:bodyPr wrap="square">
            <a:spAutoFit/>
          </a:bodyPr>
          <a:lstStyle/>
          <a:p>
            <a:r>
              <a:rPr sz="1400" b="1">
                <a:solidFill>
                  <a:srgbClr val="FFFFFF"/>
                </a:solidFill>
                <a:latin typeface="Calibri"/>
              </a:rPr>
              <a:t>Corporate Governance Code</a:t>
            </a:r>
          </a:p>
        </p:txBody>
      </p:sp>
      <p:sp>
        <p:nvSpPr>
          <p:cNvPr id="16" name="Rectangle 15"/>
          <p:cNvSpPr/>
          <p:nvPr/>
        </p:nvSpPr>
        <p:spPr>
          <a:xfrm>
            <a:off x="4251960" y="2743200"/>
            <a:ext cx="7589520" cy="1508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28160" y="2819400"/>
            <a:ext cx="7437120" cy="1407160"/>
          </a:xfrm>
          <a:prstGeom prst="rect">
            <a:avLst/>
          </a:prstGeom>
          <a:noFill/>
        </p:spPr>
        <p:txBody>
          <a:bodyPr wrap="square">
            <a:spAutoFit/>
          </a:bodyPr>
          <a:lstStyle/>
          <a:p>
            <a:r>
              <a:rPr sz="1200">
                <a:solidFill>
                  <a:srgbClr val="000000"/>
                </a:solidFill>
                <a:latin typeface="Calibri"/>
              </a:rPr>
              <a:t>TSE + FSA required all listed firms to comply or explain against governance principles. Mandated ≥ 2 independent outside directors. By 2017, &gt;90% of JPX-Nikkei 400 had ≥ 2 independent directors. Eberhart (2012): board independence → operating performance and equity valuation improvements.</a:t>
            </a:r>
          </a:p>
        </p:txBody>
      </p:sp>
      <p:sp>
        <p:nvSpPr>
          <p:cNvPr id="18" name="Rectangle 17"/>
          <p:cNvSpPr/>
          <p:nvPr/>
        </p:nvSpPr>
        <p:spPr>
          <a:xfrm>
            <a:off x="502920" y="4251960"/>
            <a:ext cx="1371600" cy="15087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3720" y="4353560"/>
            <a:ext cx="1270000" cy="1356360"/>
          </a:xfrm>
          <a:prstGeom prst="rect">
            <a:avLst/>
          </a:prstGeom>
          <a:noFill/>
        </p:spPr>
        <p:txBody>
          <a:bodyPr wrap="square">
            <a:spAutoFit/>
          </a:bodyPr>
          <a:lstStyle/>
          <a:p>
            <a:pPr algn="ctr"/>
            <a:r>
              <a:rPr sz="1600" b="1">
                <a:solidFill>
                  <a:srgbClr val="FFFFFF"/>
                </a:solidFill>
                <a:latin typeface="Calibri"/>
              </a:rPr>
              <a:t>Mar 2023</a:t>
            </a:r>
          </a:p>
        </p:txBody>
      </p:sp>
      <p:sp>
        <p:nvSpPr>
          <p:cNvPr id="20" name="Rectangle 19"/>
          <p:cNvSpPr/>
          <p:nvPr/>
        </p:nvSpPr>
        <p:spPr>
          <a:xfrm>
            <a:off x="1920240" y="4251960"/>
            <a:ext cx="2286000" cy="1508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96440" y="4353560"/>
            <a:ext cx="2133600" cy="1356360"/>
          </a:xfrm>
          <a:prstGeom prst="rect">
            <a:avLst/>
          </a:prstGeom>
          <a:noFill/>
        </p:spPr>
        <p:txBody>
          <a:bodyPr wrap="square">
            <a:spAutoFit/>
          </a:bodyPr>
          <a:lstStyle/>
          <a:p>
            <a:r>
              <a:rPr sz="1400" b="1">
                <a:solidFill>
                  <a:srgbClr val="FFFFFF"/>
                </a:solidFill>
                <a:latin typeface="Calibri"/>
              </a:rPr>
              <a:t>TSE P/B Reform</a:t>
            </a:r>
          </a:p>
        </p:txBody>
      </p:sp>
      <p:sp>
        <p:nvSpPr>
          <p:cNvPr id="22" name="Rectangle 21"/>
          <p:cNvSpPr/>
          <p:nvPr/>
        </p:nvSpPr>
        <p:spPr>
          <a:xfrm>
            <a:off x="4251960" y="4251960"/>
            <a:ext cx="7589520" cy="150876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28160" y="4328160"/>
            <a:ext cx="7437120" cy="1407160"/>
          </a:xfrm>
          <a:prstGeom prst="rect">
            <a:avLst/>
          </a:prstGeom>
          <a:noFill/>
        </p:spPr>
        <p:txBody>
          <a:bodyPr wrap="square">
            <a:spAutoFit/>
          </a:bodyPr>
          <a:lstStyle/>
          <a:p>
            <a:r>
              <a:rPr sz="1200">
                <a:solidFill>
                  <a:srgbClr val="000000"/>
                </a:solidFill>
                <a:latin typeface="Calibri"/>
              </a:rPr>
              <a:t>Instructed companies trading below 1.0× book value to disclose capital efficiency plans. TOPIX P/B rose from ≈ 1.0× (early 2023) to ≈ 1.36× (2023–2024). KOSPI remained at ≈ 0.93× → Korea–Japan P/B gap widened. Korea's Value-Up Program (2024) is modelled explicitly on this reform but remains voluntary.</a:t>
            </a:r>
          </a:p>
        </p:txBody>
      </p:sp>
      <p:sp>
        <p:nvSpPr>
          <p:cNvPr id="24" name="TextBox 23"/>
          <p:cNvSpPr txBox="1"/>
          <p:nvPr/>
        </p:nvSpPr>
        <p:spPr>
          <a:xfrm>
            <a:off x="502920" y="5806440"/>
            <a:ext cx="11155680" cy="502920"/>
          </a:xfrm>
          <a:prstGeom prst="rect">
            <a:avLst/>
          </a:prstGeom>
          <a:noFill/>
        </p:spPr>
        <p:txBody>
          <a:bodyPr wrap="square">
            <a:spAutoFit/>
          </a:bodyPr>
          <a:lstStyle/>
          <a:p>
            <a:r>
              <a:rPr sz="1200" i="1">
                <a:solidFill>
                  <a:srgbClr val="595959"/>
                </a:solidFill>
                <a:latin typeface="Calibri"/>
              </a:rPr>
              <a:t>All three reform dates locked in config.py before any data transformation — strict look-ahead bias firewall. Korea is a partial comparison case: adopted its own Stewardship Code (Dec 2016) and Value-Up Program (2024).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Theoretical Grounding</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Law-and-finance framework · Geopolitical risk channel</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5349240" cy="5349240"/>
          </a:xfrm>
          <a:prstGeom prst="rect">
            <a:avLst/>
          </a:prstGeom>
          <a:noFill/>
        </p:spPr>
        <p:txBody>
          <a:bodyPr wrap="square">
            <a:spAutoFit/>
          </a:bodyPr>
          <a:lstStyle/>
          <a:p>
            <a:endParaRPr/>
          </a:p>
          <a:p>
            <a:pPr algn="l">
              <a:spcBef>
                <a:spcPts val="0"/>
              </a:spcBef>
            </a:pPr>
            <a:r>
              <a:rPr sz="1700" b="1" i="0">
                <a:solidFill>
                  <a:srgbClr val="000000"/>
                </a:solidFill>
                <a:latin typeface="Calibri"/>
              </a:rPr>
              <a:t>Governance–Valuation Theory</a:t>
            </a:r>
          </a:p>
          <a:p>
            <a:pPr lvl="1" algn="l">
              <a:spcBef>
                <a:spcPts val="400"/>
              </a:spcBef>
            </a:pPr>
            <a:r>
              <a:rPr sz="1300" b="0" i="0">
                <a:solidFill>
                  <a:srgbClr val="000000"/>
                </a:solidFill>
                <a:latin typeface="Calibri"/>
              </a:rPr>
              <a:t>•  Shleifer &amp; Vishny (1997): ownership concentration resolves manager–shareholder conflict but intensifies controlling-shareholder vs. minority conflict — exactly the chaebol problem</a:t>
            </a:r>
          </a:p>
          <a:p>
            <a:pPr lvl="1" algn="l">
              <a:spcBef>
                <a:spcPts val="400"/>
              </a:spcBef>
            </a:pPr>
            <a:r>
              <a:rPr sz="1300" b="0" i="0">
                <a:solidFill>
                  <a:srgbClr val="000000"/>
                </a:solidFill>
                <a:latin typeface="Calibri"/>
              </a:rPr>
              <a:t>•  La Porta et al. (1998, 2002): stronger statutory investor protections → larger, more liquid capital markets; minority protection causally associated with higher dividends and Tobin's q</a:t>
            </a:r>
          </a:p>
          <a:p>
            <a:pPr lvl="1" algn="l">
              <a:spcBef>
                <a:spcPts val="400"/>
              </a:spcBef>
            </a:pPr>
            <a:r>
              <a:rPr sz="1300" b="0" i="0">
                <a:solidFill>
                  <a:srgbClr val="000000"/>
                </a:solidFill>
                <a:latin typeface="Calibri"/>
              </a:rPr>
              <a:t>•  Korea's civil-law tradition + chaebol structure places it toward the weak-protection end of the international distribution</a:t>
            </a:r>
          </a:p>
          <a:p>
            <a:pPr lvl="1" algn="l">
              <a:spcBef>
                <a:spcPts val="400"/>
              </a:spcBef>
            </a:pPr>
            <a:r>
              <a:rPr sz="1300" b="0" i="0">
                <a:solidFill>
                  <a:srgbClr val="000000"/>
                </a:solidFill>
                <a:latin typeface="Calibri"/>
              </a:rPr>
              <a:t>•  Japan's reform experience demonstrates that de facto governance can be improved through targeted regulation even within a civil-law system</a:t>
            </a:r>
          </a:p>
          <a:p>
            <a:pPr lvl="1" algn="l">
              <a:spcBef>
                <a:spcPts val="400"/>
              </a:spcBef>
            </a:pPr>
            <a:r>
              <a:rPr sz="1300" b="0" i="0">
                <a:solidFill>
                  <a:srgbClr val="000000"/>
                </a:solidFill>
                <a:latin typeface="Calibri"/>
              </a:rPr>
              <a:t>•  Gompers et al. (2003): firms with stronger shareholder rights earn significantly higher abnormal returns (US evidence; corroborating)</a:t>
            </a:r>
          </a:p>
        </p:txBody>
      </p:sp>
      <p:sp>
        <p:nvSpPr>
          <p:cNvPr id="7" name="Rectangle 6"/>
          <p:cNvSpPr/>
          <p:nvPr/>
        </p:nvSpPr>
        <p:spPr>
          <a:xfrm>
            <a:off x="6035040" y="1234440"/>
            <a:ext cx="12700" cy="534924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1234440"/>
            <a:ext cx="5486400" cy="5349240"/>
          </a:xfrm>
          <a:prstGeom prst="rect">
            <a:avLst/>
          </a:prstGeom>
          <a:noFill/>
        </p:spPr>
        <p:txBody>
          <a:bodyPr wrap="square">
            <a:spAutoFit/>
          </a:bodyPr>
          <a:lstStyle/>
          <a:p>
            <a:endParaRPr/>
          </a:p>
          <a:p>
            <a:pPr algn="l">
              <a:spcBef>
                <a:spcPts val="0"/>
              </a:spcBef>
            </a:pPr>
            <a:r>
              <a:rPr sz="1700" b="1" i="0">
                <a:solidFill>
                  <a:srgbClr val="000000"/>
                </a:solidFill>
                <a:latin typeface="Calibri"/>
              </a:rPr>
              <a:t>Geopolitical Risk Channel</a:t>
            </a:r>
          </a:p>
          <a:p>
            <a:pPr lvl="1" algn="l">
              <a:spcBef>
                <a:spcPts val="400"/>
              </a:spcBef>
            </a:pPr>
            <a:r>
              <a:rPr sz="1300" b="0" i="0">
                <a:solidFill>
                  <a:srgbClr val="000000"/>
                </a:solidFill>
                <a:latin typeface="Calibri"/>
              </a:rPr>
              <a:t>•  Six North Korean nuclear tests over sample period: Oct 2006, May 2009, Feb 2013, Jan 2016, Sep 2016, Sep 2017</a:t>
            </a:r>
          </a:p>
          <a:p>
            <a:pPr lvl="1" algn="l">
              <a:spcBef>
                <a:spcPts val="400"/>
              </a:spcBef>
            </a:pPr>
            <a:r>
              <a:rPr sz="1300" b="0" i="0">
                <a:solidFill>
                  <a:srgbClr val="000000"/>
                </a:solidFill>
                <a:latin typeface="Calibri"/>
              </a:rPr>
              <a:t>•  2017 test (ICBM range) coincided with largest single-period widening of Korea–TOPIX P/B spread</a:t>
            </a:r>
          </a:p>
          <a:p>
            <a:pPr lvl="1" algn="l">
              <a:spcBef>
                <a:spcPts val="400"/>
              </a:spcBef>
            </a:pPr>
            <a:r>
              <a:rPr sz="1300" b="0" i="0">
                <a:solidFill>
                  <a:srgbClr val="000000"/>
                </a:solidFill>
                <a:latin typeface="Calibri"/>
              </a:rPr>
              <a:t>•  Caldara–Iacoviello GPR index and Korea-specific GPRNK sub-index (IMF 2021)</a:t>
            </a:r>
          </a:p>
          <a:p>
            <a:pPr lvl="1" algn="l">
              <a:spcBef>
                <a:spcPts val="400"/>
              </a:spcBef>
            </a:pPr>
            <a:r>
              <a:rPr sz="1300" b="0" i="0">
                <a:solidFill>
                  <a:srgbClr val="000000"/>
                </a:solidFill>
                <a:latin typeface="Calibri"/>
              </a:rPr>
              <a:t>•  IMF (2021): North Korean provocations primarily affect systematic risk / market beta — a level effect on required return — not cumulative permanent discount widening</a:t>
            </a:r>
          </a:p>
          <a:p>
            <a:pPr lvl="1" algn="l">
              <a:spcBef>
                <a:spcPts val="400"/>
              </a:spcBef>
            </a:pPr>
            <a:r>
              <a:rPr sz="1300" b="0" i="0">
                <a:solidFill>
                  <a:srgbClr val="000000"/>
                </a:solidFill>
                <a:latin typeface="Calibri"/>
              </a:rPr>
              <a:t>•  Implication: geopolitical premium is embedded in the structural discount level, not generating time-series spikes around each escalation event</a:t>
            </a:r>
          </a:p>
          <a:p>
            <a:pPr lvl="1" algn="l">
              <a:spcBef>
                <a:spcPts val="400"/>
              </a:spcBef>
            </a:pPr>
            <a:r>
              <a:rPr sz="1300" b="0" i="0">
                <a:solidFill>
                  <a:srgbClr val="000000"/>
                </a:solidFill>
                <a:latin typeface="Calibri"/>
              </a:rPr>
              <a:t>•  Cannot be resolved by domestic governance reform alone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377440"/>
            <a:ext cx="9144000" cy="1097280"/>
          </a:xfrm>
          <a:prstGeom prst="rect">
            <a:avLst/>
          </a:prstGeom>
          <a:noFill/>
        </p:spPr>
        <p:txBody>
          <a:bodyPr wrap="square">
            <a:spAutoFit/>
          </a:bodyPr>
          <a:lstStyle/>
          <a:p>
            <a:pPr algn="ctr"/>
            <a:r>
              <a:rPr sz="4000" b="1">
                <a:solidFill>
                  <a:srgbClr val="FFFFFF"/>
                </a:solidFill>
                <a:latin typeface="Calibri"/>
              </a:rPr>
              <a:t>Methodology</a:t>
            </a:r>
          </a:p>
        </p:txBody>
      </p:sp>
      <p:sp>
        <p:nvSpPr>
          <p:cNvPr id="4" name="TextBox 3"/>
          <p:cNvSpPr txBox="1"/>
          <p:nvPr/>
        </p:nvSpPr>
        <p:spPr>
          <a:xfrm>
            <a:off x="1371600" y="3520440"/>
            <a:ext cx="9144000" cy="731520"/>
          </a:xfrm>
          <a:prstGeom prst="rect">
            <a:avLst/>
          </a:prstGeom>
          <a:noFill/>
        </p:spPr>
        <p:txBody>
          <a:bodyPr wrap="square">
            <a:spAutoFit/>
          </a:bodyPr>
          <a:lstStyle/>
          <a:p>
            <a:pPr algn="ctr"/>
            <a:r>
              <a:rPr sz="1800" b="0">
                <a:solidFill>
                  <a:srgbClr val="D9D9D9"/>
                </a:solidFill>
                <a:latin typeface="Calibri"/>
              </a:rPr>
              <a:t>Data · Causal Channels · Empirical Strategy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Data Sources &amp; Variable Construction</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Monthly index-level P/B ratios from Bloomberg, 2004–2024</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0"/>
              </a:spcBef>
            </a:pPr>
            <a:r>
              <a:rPr sz="1700" b="1" i="0">
                <a:solidFill>
                  <a:srgbClr val="000000"/>
                </a:solidFill>
                <a:latin typeface="Calibri"/>
              </a:rPr>
              <a:t>Primary panel</a:t>
            </a:r>
          </a:p>
          <a:p>
            <a:pPr lvl="1" algn="l">
              <a:spcBef>
                <a:spcPts val="300"/>
              </a:spcBef>
            </a:pPr>
            <a:r>
              <a:rPr sz="1400" b="0" i="0">
                <a:solidFill>
                  <a:srgbClr val="000000"/>
                </a:solidFill>
                <a:latin typeface="Calibri"/>
              </a:rPr>
              <a:t>•  Bloomberg Terminal  PX_TO_BOOK_RATIO: aggregate market cap ÷ aggregate book value for all index constituents</a:t>
            </a:r>
          </a:p>
          <a:p>
            <a:pPr lvl="1" algn="l">
              <a:spcBef>
                <a:spcPts val="300"/>
              </a:spcBef>
            </a:pPr>
            <a:r>
              <a:rPr sz="1400" b="0" i="0">
                <a:solidFill>
                  <a:srgbClr val="000000"/>
                </a:solidFill>
                <a:latin typeface="Calibri"/>
              </a:rPr>
              <a:t>•  Four indices: KOSPI Composite (KOSPI Index)  ·  TOPIX (TPX Index)  ·  S&amp;P 500 (SPX Index)  ·  MSCI EM (MXEF Index)</a:t>
            </a:r>
          </a:p>
          <a:p>
            <a:pPr lvl="1" algn="l">
              <a:spcBef>
                <a:spcPts val="300"/>
              </a:spcBef>
            </a:pPr>
            <a:r>
              <a:rPr sz="1400" b="0" i="0">
                <a:solidFill>
                  <a:srgbClr val="000000"/>
                </a:solidFill>
                <a:latin typeface="Calibri"/>
              </a:rPr>
              <a:t>•  Primary sample: Jan 2004 – Dec 2024  →  252 months per series  →  1,008 country-month observations</a:t>
            </a:r>
          </a:p>
          <a:p>
            <a:pPr lvl="1" algn="l">
              <a:spcBef>
                <a:spcPts val="300"/>
              </a:spcBef>
            </a:pPr>
            <a:r>
              <a:rPr sz="1400" b="0" i="0">
                <a:solidFill>
                  <a:srgbClr val="000000"/>
                </a:solidFill>
                <a:latin typeface="Calibri"/>
              </a:rPr>
              <a:t>•  Processed panel stored as data/processed/panel.parquet with schema (date, country, pb, pe, fx_rate)</a:t>
            </a:r>
          </a:p>
          <a:p>
            <a:pPr lvl="1" algn="l">
              <a:spcBef>
                <a:spcPts val="300"/>
              </a:spcBef>
            </a:pPr>
            <a:r>
              <a:rPr sz="1400" b="0" i="0">
                <a:solidFill>
                  <a:srgbClr val="000000"/>
                </a:solidFill>
                <a:latin typeface="Calibri"/>
              </a:rPr>
              <a:t>•  All Bloomberg raw CSV exports version-controlled in data/raw/ with MANIFEST.md (vintage: 2026-04-20)</a:t>
            </a:r>
          </a:p>
          <a:p>
            <a:pPr lvl="1" algn="l">
              <a:spcBef>
                <a:spcPts val="300"/>
              </a:spcBef>
            </a:pPr>
            <a:r>
              <a:rPr sz="1400" b="0" i="0">
                <a:solidFill>
                  <a:srgbClr val="000000"/>
                </a:solidFill>
                <a:latin typeface="Calibri"/>
              </a:rPr>
              <a:t>•  Geopolitical Risk: Caldara–Iacoviello GPR index + GPRNK sub-index  ·  monthly, no gaps</a:t>
            </a:r>
          </a:p>
          <a:p>
            <a:pPr algn="l">
              <a:spcBef>
                <a:spcPts val="800"/>
              </a:spcBef>
            </a:pPr>
            <a:r>
              <a:rPr sz="1700" b="1" i="0">
                <a:solidFill>
                  <a:srgbClr val="000000"/>
                </a:solidFill>
                <a:latin typeface="Calibri"/>
              </a:rPr>
              <a:t>Why P/B over P/E?</a:t>
            </a:r>
          </a:p>
          <a:p>
            <a:pPr lvl="1" algn="l">
              <a:spcBef>
                <a:spcPts val="300"/>
              </a:spcBef>
            </a:pPr>
            <a:r>
              <a:rPr sz="1400" b="0" i="0">
                <a:solidFill>
                  <a:srgbClr val="000000"/>
                </a:solidFill>
                <a:latin typeface="Calibri"/>
              </a:rPr>
              <a:t>(i)  Book value is considerably less cyclically volatile → more stable measure of structural discount</a:t>
            </a:r>
          </a:p>
          <a:p>
            <a:pPr lvl="1" algn="l">
              <a:spcBef>
                <a:spcPts val="300"/>
              </a:spcBef>
            </a:pPr>
            <a:r>
              <a:rPr sz="1400" b="0" i="0">
                <a:solidFill>
                  <a:srgbClr val="000000"/>
                </a:solidFill>
                <a:latin typeface="Calibri"/>
              </a:rPr>
              <a:t>(ii)  Book value does not go negative for index aggregates (avoids sign-change problem in recessions)</a:t>
            </a:r>
          </a:p>
          <a:p>
            <a:pPr lvl="1" algn="l">
              <a:spcBef>
                <a:spcPts val="300"/>
              </a:spcBef>
            </a:pPr>
            <a:r>
              <a:rPr sz="1400" b="0" i="0">
                <a:solidFill>
                  <a:srgbClr val="000000"/>
                </a:solidFill>
                <a:latin typeface="Calibri"/>
              </a:rPr>
              <a:t>(iii) The TSE P/B reform and Korea's Value-Up Program are both explicitly framed in P/B terms</a:t>
            </a:r>
          </a:p>
          <a:p>
            <a:pPr algn="l">
              <a:spcBef>
                <a:spcPts val="400"/>
              </a:spcBef>
            </a:pPr>
            <a:r>
              <a:rPr sz="1300" b="0" i="1">
                <a:solidFill>
                  <a:srgbClr val="595959"/>
                </a:solidFill>
                <a:latin typeface="Calibri"/>
              </a:rPr>
              <a:t>
Survivorship bias: index-level P/B computed over all constituents as of each month-end, including firms that subsequently exit. Korea Discount persisted despite constituent turnover.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Three Structural Channels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Compounding mechanisms that explain the Korea Discount</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800"/>
              </a:spcBef>
            </a:pPr>
            <a:r>
              <a:rPr sz="1600" b="1" i="0">
                <a:solidFill>
                  <a:srgbClr val="000000"/>
                </a:solidFill>
                <a:latin typeface="Calibri"/>
              </a:rPr>
              <a:t>1.  Chaebol Opacity and Agency Costs</a:t>
            </a:r>
          </a:p>
          <a:p>
            <a:pPr lvl="1" algn="l">
              <a:spcBef>
                <a:spcPts val="200"/>
              </a:spcBef>
            </a:pPr>
            <a:r>
              <a:rPr sz="1300" b="0" i="0">
                <a:solidFill>
                  <a:srgbClr val="000000"/>
                </a:solidFill>
                <a:latin typeface="Calibri"/>
              </a:rPr>
              <a:t>•  Control-to-cash-flow ratio ≈ 2:1 → intragroup tunneling; group accounting obscures entity economics</a:t>
            </a:r>
          </a:p>
          <a:p>
            <a:pPr lvl="1" algn="l">
              <a:spcBef>
                <a:spcPts val="200"/>
              </a:spcBef>
            </a:pPr>
            <a:r>
              <a:rPr sz="1300" b="0" i="0">
                <a:solidFill>
                  <a:srgbClr val="000000"/>
                </a:solidFill>
                <a:latin typeface="Calibri"/>
              </a:rPr>
              <a:t>•  Controlling-family incentives to suppress equity prices during generational wealth transfers (60% inheritance tax)</a:t>
            </a:r>
          </a:p>
          <a:p>
            <a:pPr lvl="1" algn="l">
              <a:spcBef>
                <a:spcPts val="200"/>
              </a:spcBef>
            </a:pPr>
            <a:r>
              <a:rPr sz="1300" b="0" i="0">
                <a:solidFill>
                  <a:srgbClr val="000000"/>
                </a:solidFill>
                <a:latin typeface="Calibri"/>
              </a:rPr>
              <a:t>•  Double-counting in KOSPI book value inflates denominator → mechanically lower P/B</a:t>
            </a:r>
          </a:p>
          <a:p>
            <a:pPr algn="l">
              <a:spcBef>
                <a:spcPts val="800"/>
              </a:spcBef>
            </a:pPr>
            <a:r>
              <a:rPr sz="1600" b="1" i="0">
                <a:solidFill>
                  <a:srgbClr val="000000"/>
                </a:solidFill>
                <a:latin typeface="Calibri"/>
              </a:rPr>
              <a:t>2.  Minority Shareholder Recourse Deficit</a:t>
            </a:r>
          </a:p>
          <a:p>
            <a:pPr lvl="1" algn="l">
              <a:spcBef>
                <a:spcPts val="200"/>
              </a:spcBef>
            </a:pPr>
            <a:r>
              <a:rPr sz="1300" b="0" i="0">
                <a:solidFill>
                  <a:srgbClr val="000000"/>
                </a:solidFill>
                <a:latin typeface="Calibri"/>
              </a:rPr>
              <a:t>•  High ownership thresholds for derivative suits; lax board independence pre-2020 Commercial Act reforms</a:t>
            </a:r>
          </a:p>
          <a:p>
            <a:pPr lvl="1" algn="l">
              <a:spcBef>
                <a:spcPts val="200"/>
              </a:spcBef>
            </a:pPr>
            <a:r>
              <a:rPr sz="1300" b="0" i="0">
                <a:solidFill>
                  <a:srgbClr val="000000"/>
                </a:solidFill>
                <a:latin typeface="Calibri"/>
              </a:rPr>
              <a:t>•  Related-party transaction disclosure thresholds permitted large intragroup transactions without shareholder approval</a:t>
            </a:r>
          </a:p>
          <a:p>
            <a:pPr lvl="1" algn="l">
              <a:spcBef>
                <a:spcPts val="200"/>
              </a:spcBef>
            </a:pPr>
            <a:r>
              <a:rPr sz="1300" b="0" i="0">
                <a:solidFill>
                  <a:srgbClr val="000000"/>
                </a:solidFill>
                <a:latin typeface="Calibri"/>
              </a:rPr>
              <a:t>•  Korea Stewardship Code (Dec 2016) widely assessed as weaker than Japan's 2014 equivalent</a:t>
            </a:r>
          </a:p>
          <a:p>
            <a:pPr lvl="1" algn="l">
              <a:spcBef>
                <a:spcPts val="200"/>
              </a:spcBef>
            </a:pPr>
            <a:r>
              <a:rPr sz="1300" b="0" i="0">
                <a:solidFill>
                  <a:srgbClr val="000000"/>
                </a:solidFill>
                <a:latin typeface="Calibri"/>
              </a:rPr>
              <a:t>•  Commercial Act fiduciary duty amendments for minority shareholders proposed only 2025</a:t>
            </a:r>
          </a:p>
          <a:p>
            <a:pPr algn="l">
              <a:spcBef>
                <a:spcPts val="800"/>
              </a:spcBef>
            </a:pPr>
            <a:r>
              <a:rPr sz="1600" b="1" i="0">
                <a:solidFill>
                  <a:srgbClr val="000000"/>
                </a:solidFill>
                <a:latin typeface="Calibri"/>
              </a:rPr>
              <a:t>3.  Geopolitical Risk Premium</a:t>
            </a:r>
          </a:p>
          <a:p>
            <a:pPr lvl="1" algn="l">
              <a:spcBef>
                <a:spcPts val="200"/>
              </a:spcBef>
            </a:pPr>
            <a:r>
              <a:rPr sz="1300" b="0" i="0">
                <a:solidFill>
                  <a:srgbClr val="000000"/>
                </a:solidFill>
                <a:latin typeface="Calibri"/>
              </a:rPr>
              <a:t>•  Tail risk of armed conflict warrants a discount to intrinsic value not shared by TOPIX, S&amp;P 500, or MSCI EM</a:t>
            </a:r>
          </a:p>
          <a:p>
            <a:pPr lvl="1" algn="l">
              <a:spcBef>
                <a:spcPts val="200"/>
              </a:spcBef>
            </a:pPr>
            <a:r>
              <a:rPr sz="1300" b="0" i="0">
                <a:solidFill>
                  <a:srgbClr val="000000"/>
                </a:solidFill>
                <a:latin typeface="Calibri"/>
              </a:rPr>
              <a:t>•  Priced continuously as a level discount rather than reacting discretely to individual escalation events</a:t>
            </a:r>
          </a:p>
          <a:p>
            <a:pPr lvl="1" algn="l">
              <a:spcBef>
                <a:spcPts val="200"/>
              </a:spcBef>
            </a:pPr>
            <a:r>
              <a:rPr sz="1300" b="0" i="0">
                <a:solidFill>
                  <a:srgbClr val="000000"/>
                </a:solidFill>
                <a:latin typeface="Calibri"/>
              </a:rPr>
              <a:t>•  Cannot be eliminated through domestic governance reform alone</a:t>
            </a:r>
          </a:p>
          <a:p>
            <a:pPr algn="l">
              <a:spcBef>
                <a:spcPts val="600"/>
              </a:spcBef>
            </a:pPr>
            <a:r>
              <a:rPr sz="1300" b="0" i="1">
                <a:solidFill>
                  <a:srgbClr val="595959"/>
                </a:solidFill>
                <a:latin typeface="Calibri"/>
              </a:rPr>
              <a:t>
The interaction of these three channels creates a cumulative discount exceeding what any individual channel would predict in isolation.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Empirical Strategy</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Three designs with different evidentiary weight — all reform dates locked before data transformation</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1000"/>
              </a:spcBef>
            </a:pPr>
            <a:r>
              <a:rPr sz="1500" b="1" i="0">
                <a:solidFill>
                  <a:srgbClr val="000000"/>
                </a:solidFill>
                <a:latin typeface="Calibri"/>
              </a:rPr>
              <a:t>Descriptive Event-Window Analysis  [primary description]</a:t>
            </a:r>
          </a:p>
          <a:p>
            <a:pPr lvl="1" algn="l">
              <a:spcBef>
                <a:spcPts val="200"/>
              </a:spcBef>
            </a:pPr>
            <a:r>
              <a:rPr sz="1300" b="0" i="0">
                <a:solidFill>
                  <a:srgbClr val="000000"/>
                </a:solidFill>
                <a:latin typeface="Calibri"/>
              </a:rPr>
              <a:t>For each reform date k ∈ {2014, 2015, 2023}, construct monthly spread S_t = PB_KOSPI – PB_TOPIX. Estimate linear pre-event trend in S_t over [–36, –1] months; define abnormal spread movement as observed spread minus fitted pre-event trend. Report cumulative abnormal spread (CAR) over [–12, +24]. Design is saturated at cohort-by-relative-month level → conventional SEs undefined → results are descriptive only. 2014 and 2015 windows overlap — not independent reform experiments.</a:t>
            </a:r>
          </a:p>
          <a:p>
            <a:pPr algn="l">
              <a:spcBef>
                <a:spcPts val="1000"/>
              </a:spcBef>
            </a:pPr>
            <a:r>
              <a:rPr sz="1500" b="1" i="0">
                <a:solidFill>
                  <a:srgbClr val="000000"/>
                </a:solidFill>
                <a:latin typeface="Calibri"/>
              </a:rPr>
              <a:t>Panel OLS  [corroborating]</a:t>
            </a:r>
          </a:p>
          <a:p>
            <a:pPr lvl="1" algn="l">
              <a:spcBef>
                <a:spcPts val="200"/>
              </a:spcBef>
            </a:pPr>
            <a:r>
              <a:rPr sz="1300" b="0" i="0">
                <a:solidFill>
                  <a:srgbClr val="000000"/>
                </a:solidFill>
                <a:latin typeface="Calibri"/>
              </a:rPr>
              <a:t>Two-way FE (country + time) specification: Y_ct = α_c + α_t + Σ_k β_k · D_kt · 1[c = Japan] + ε_ct. Reform-by-Japan interaction terms β_k estimated via linearmodels.PanelOLS in Python (within-demeaning). Inference: wild-bootstrap with 999 Rademacher draws, clustered by country (Cameron et al. 2008). N = 4 country clusters → p-values are conservative but size-correct. Results: p-values of 0.625, 0.375, 0.500 — not robust evidence of positive re-rating.</a:t>
            </a:r>
          </a:p>
          <a:p>
            <a:pPr algn="l">
              <a:spcBef>
                <a:spcPts val="1000"/>
              </a:spcBef>
            </a:pPr>
            <a:r>
              <a:rPr sz="1500" b="1" i="0">
                <a:solidFill>
                  <a:srgbClr val="000000"/>
                </a:solidFill>
                <a:latin typeface="Calibri"/>
              </a:rPr>
              <a:t>Synthetic Control  [2023 only]</a:t>
            </a:r>
          </a:p>
          <a:p>
            <a:pPr lvl="1" algn="l">
              <a:spcBef>
                <a:spcPts val="200"/>
              </a:spcBef>
            </a:pPr>
            <a:r>
              <a:rPr sz="1300" b="0" i="0">
                <a:solidFill>
                  <a:srgbClr val="000000"/>
                </a:solidFill>
                <a:latin typeface="Calibri"/>
              </a:rPr>
              <a:t>Abadie (2010) convex combination of donor markets: MSCI EM, MSCI EM Asia, MSCI HK, MSCI Taiwan, MSCI China, MSCI India, MSCI Indonesia. Optimization on demeaned P/B resolves convex-hull boundary. KOSPI excluded from donor pool. Full weight assigned to MSCI EM Asia (weight = 1.0); pre-treatment RMSPE = 0.1451. Post-reform gap should not be read as a stand-alone causal estimate.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377440"/>
            <a:ext cx="9144000" cy="1097280"/>
          </a:xfrm>
          <a:prstGeom prst="rect">
            <a:avLst/>
          </a:prstGeom>
          <a:noFill/>
        </p:spPr>
        <p:txBody>
          <a:bodyPr wrap="square">
            <a:spAutoFit/>
          </a:bodyPr>
          <a:lstStyle/>
          <a:p>
            <a:pPr algn="ctr"/>
            <a:r>
              <a:rPr sz="4000" b="1">
                <a:solidFill>
                  <a:srgbClr val="FFFFFF"/>
                </a:solidFill>
                <a:latin typeface="Calibri"/>
              </a:rPr>
              <a:t>Results</a:t>
            </a:r>
          </a:p>
        </p:txBody>
      </p:sp>
      <p:sp>
        <p:nvSpPr>
          <p:cNvPr id="4" name="TextBox 3"/>
          <p:cNvSpPr txBox="1"/>
          <p:nvPr/>
        </p:nvSpPr>
        <p:spPr>
          <a:xfrm>
            <a:off x="1371600" y="3520440"/>
            <a:ext cx="9144000" cy="731520"/>
          </a:xfrm>
          <a:prstGeom prst="rect">
            <a:avLst/>
          </a:prstGeom>
          <a:noFill/>
        </p:spPr>
        <p:txBody>
          <a:bodyPr wrap="square">
            <a:spAutoFit/>
          </a:bodyPr>
          <a:lstStyle/>
          <a:p>
            <a:pPr algn="ctr"/>
            <a:r>
              <a:rPr sz="1800" b="0">
                <a:solidFill>
                  <a:srgbClr val="D9D9D9"/>
                </a:solidFill>
                <a:latin typeface="Calibri"/>
              </a:rPr>
              <a:t>Event-Windows · Panel OLS · Geopolitical Risk · Synthetic Control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Figure 1: Index-Level P/B Ratios, 2004–2024</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KOSPI trades at a persistent discount; dashed lines mark Japan's three reform dates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ure1_pb_comparison.png"/>
          <p:cNvPicPr>
            <a:picLocks noChangeAspect="1"/>
          </p:cNvPicPr>
          <p:nvPr/>
        </p:nvPicPr>
        <p:blipFill>
          <a:blip r:embed="rId2"/>
          <a:stretch>
            <a:fillRect/>
          </a:stretch>
        </p:blipFill>
        <p:spPr>
          <a:xfrm>
            <a:off x="502920" y="1234440"/>
            <a:ext cx="7772400" cy="5349240"/>
          </a:xfrm>
          <a:prstGeom prst="rect">
            <a:avLst/>
          </a:prstGeom>
        </p:spPr>
      </p:pic>
      <p:sp>
        <p:nvSpPr>
          <p:cNvPr id="7" name="TextBox 6"/>
          <p:cNvSpPr txBox="1"/>
          <p:nvPr/>
        </p:nvSpPr>
        <p:spPr>
          <a:xfrm>
            <a:off x="8412480" y="1234440"/>
            <a:ext cx="3566160" cy="5349240"/>
          </a:xfrm>
          <a:prstGeom prst="rect">
            <a:avLst/>
          </a:prstGeom>
          <a:noFill/>
        </p:spPr>
        <p:txBody>
          <a:bodyPr wrap="square">
            <a:spAutoFit/>
          </a:bodyPr>
          <a:lstStyle/>
          <a:p>
            <a:endParaRPr/>
          </a:p>
          <a:p>
            <a:pPr algn="l">
              <a:spcBef>
                <a:spcPts val="0"/>
              </a:spcBef>
            </a:pPr>
            <a:r>
              <a:rPr sz="1500" b="1" i="0">
                <a:solidFill>
                  <a:srgbClr val="000000"/>
                </a:solidFill>
                <a:latin typeface="Calibri"/>
              </a:rPr>
              <a:t>Key observations</a:t>
            </a:r>
          </a:p>
          <a:p>
            <a:pPr lvl="1" algn="l">
              <a:spcBef>
                <a:spcPts val="500"/>
              </a:spcBef>
            </a:pPr>
            <a:r>
              <a:rPr sz="1300" b="0" i="0">
                <a:solidFill>
                  <a:srgbClr val="000000"/>
                </a:solidFill>
                <a:latin typeface="Calibri"/>
              </a:rPr>
              <a:t>•  KOSPI P/B consistently below TOPIX, S&amp;P 500, and MSCI EM throughout 2004–2024</a:t>
            </a:r>
          </a:p>
          <a:p>
            <a:pPr lvl="1" algn="l">
              <a:spcBef>
                <a:spcPts val="500"/>
              </a:spcBef>
            </a:pPr>
            <a:r>
              <a:rPr sz="1300" b="0" i="0">
                <a:solidFill>
                  <a:srgbClr val="000000"/>
                </a:solidFill>
                <a:latin typeface="Calibri"/>
              </a:rPr>
              <a:t>•  Largest single-period widening visible around 2017 North Korean ICBM tests</a:t>
            </a:r>
          </a:p>
          <a:p>
            <a:pPr lvl="1" algn="l">
              <a:spcBef>
                <a:spcPts val="500"/>
              </a:spcBef>
            </a:pPr>
            <a:r>
              <a:rPr sz="1300" b="0" i="0">
                <a:solidFill>
                  <a:srgbClr val="000000"/>
                </a:solidFill>
                <a:latin typeface="Calibri"/>
              </a:rPr>
              <a:t>•  Post-2023 TSE P/B reform: TOPIX rebounds to 1.36×; KOSPI stays near 0.93×</a:t>
            </a:r>
          </a:p>
          <a:p>
            <a:pPr lvl="1" algn="l">
              <a:spcBef>
                <a:spcPts val="500"/>
              </a:spcBef>
            </a:pPr>
            <a:r>
              <a:rPr sz="1300" b="0" i="0">
                <a:solidFill>
                  <a:srgbClr val="000000"/>
                </a:solidFill>
                <a:latin typeface="Calibri"/>
              </a:rPr>
              <a:t>•  Korea–Japan gap widens at exactly the point Japan's governance reform was most aggressive</a:t>
            </a:r>
          </a:p>
          <a:p>
            <a:pPr lvl="1" algn="l">
              <a:spcBef>
                <a:spcPts val="500"/>
              </a:spcBef>
            </a:pPr>
            <a:r>
              <a:rPr sz="1300" b="0" i="0">
                <a:solidFill>
                  <a:srgbClr val="000000"/>
                </a:solidFill>
                <a:latin typeface="Calibri"/>
              </a:rPr>
              <a:t>•  Global financial crisis (2008–09) compresses all four series simultaneously — cross-market consistency check</a:t>
            </a:r>
          </a:p>
          <a:p>
            <a:pPr algn="l">
              <a:spcBef>
                <a:spcPts val="1000"/>
              </a:spcBef>
            </a:pPr>
            <a:r>
              <a:rPr sz="1400" b="1" i="0">
                <a:solidFill>
                  <a:srgbClr val="000000"/>
                </a:solidFill>
                <a:latin typeface="Calibri"/>
              </a:rPr>
              <a:t>
Mean gap vs. TOPIX: –0.177× (t = –3.23)
Mean gap vs. MSCI EM: –0.601× (t = –10.30)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Descriptive Event-Window Analysis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Cumulative abnormal movements in the KOSPI–TOPIX P/B spread around Japan reform dates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0"/>
              </a:spcBef>
            </a:pPr>
            <a:r>
              <a:rPr sz="1300" b="0" i="1">
                <a:solidFill>
                  <a:srgbClr val="595959"/>
                </a:solidFill>
                <a:latin typeface="Calibri"/>
              </a:rPr>
              <a:t>Sign convention: positive CAR = KOSPI–TOPIX spread rose relative to pre-event trend (Korea discount narrowed or reversed); negative CAR = Korea discount deepened.</a:t>
            </a:r>
          </a:p>
          <a:p>
            <a:pPr algn="l">
              <a:spcBef>
                <a:spcPts val="400"/>
              </a:spcBef>
            </a:pPr>
            <a:r>
              <a:rPr sz="1300" b="0" i="1">
                <a:solidFill>
                  <a:srgbClr val="595959"/>
                </a:solidFill>
                <a:latin typeface="Calibri"/>
              </a:rPr>
              <a:t>
Important: these are descriptive abnormal spread movements. Not presented with confidence intervals. Not a causal identification.</a:t>
            </a:r>
          </a:p>
        </p:txBody>
      </p:sp>
      <p:sp>
        <p:nvSpPr>
          <p:cNvPr id="7" name="Rectangle 6"/>
          <p:cNvSpPr/>
          <p:nvPr/>
        </p:nvSpPr>
        <p:spPr>
          <a:xfrm>
            <a:off x="502920" y="1554480"/>
            <a:ext cx="11155680" cy="292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92580"/>
            <a:ext cx="10972800" cy="256032"/>
          </a:xfrm>
          <a:prstGeom prst="rect">
            <a:avLst/>
          </a:prstGeom>
          <a:noFill/>
        </p:spPr>
        <p:txBody>
          <a:bodyPr wrap="square">
            <a:spAutoFit/>
          </a:bodyPr>
          <a:lstStyle/>
          <a:p>
            <a:r>
              <a:rPr sz="1400" b="1">
                <a:solidFill>
                  <a:srgbClr val="FFFFFF"/>
                </a:solidFill>
                <a:latin typeface="Calibri"/>
              </a:rPr>
              <a:t>2014 Stewardship Code   CAR by τ = +24:  ≈ +4.29</a:t>
            </a:r>
          </a:p>
        </p:txBody>
      </p:sp>
      <p:sp>
        <p:nvSpPr>
          <p:cNvPr id="9" name="TextBox 8"/>
          <p:cNvSpPr txBox="1"/>
          <p:nvPr/>
        </p:nvSpPr>
        <p:spPr>
          <a:xfrm>
            <a:off x="685800" y="1874520"/>
            <a:ext cx="10972800" cy="1143000"/>
          </a:xfrm>
          <a:prstGeom prst="rect">
            <a:avLst/>
          </a:prstGeom>
          <a:noFill/>
        </p:spPr>
        <p:txBody>
          <a:bodyPr wrap="square">
            <a:spAutoFit/>
          </a:bodyPr>
          <a:lstStyle/>
          <a:p>
            <a:r>
              <a:rPr sz="1300">
                <a:solidFill>
                  <a:srgbClr val="000000"/>
                </a:solidFill>
                <a:latin typeface="Calibri"/>
              </a:rPr>
              <a:t>Negative pre-event CAR reverses after reform date. Under this sign convention, the spread rose vs. its pre-event trend — consistent with some narrowing of the Korea discount relative to its trajectory. However this window overlaps with the 2015 reform window and is not independent.</a:t>
            </a:r>
          </a:p>
        </p:txBody>
      </p:sp>
      <p:sp>
        <p:nvSpPr>
          <p:cNvPr id="10" name="Rectangle 9"/>
          <p:cNvSpPr/>
          <p:nvPr/>
        </p:nvSpPr>
        <p:spPr>
          <a:xfrm>
            <a:off x="502920" y="3063239"/>
            <a:ext cx="11155680" cy="292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3101339"/>
            <a:ext cx="10972800" cy="256032"/>
          </a:xfrm>
          <a:prstGeom prst="rect">
            <a:avLst/>
          </a:prstGeom>
          <a:noFill/>
        </p:spPr>
        <p:txBody>
          <a:bodyPr wrap="square">
            <a:spAutoFit/>
          </a:bodyPr>
          <a:lstStyle/>
          <a:p>
            <a:r>
              <a:rPr sz="1400" b="1">
                <a:solidFill>
                  <a:srgbClr val="FFFFFF"/>
                </a:solidFill>
                <a:latin typeface="Calibri"/>
              </a:rPr>
              <a:t>2015 Corporate Governance Code   CAR by τ = +24:  ≈ +7.83</a:t>
            </a:r>
          </a:p>
        </p:txBody>
      </p:sp>
      <p:sp>
        <p:nvSpPr>
          <p:cNvPr id="12" name="TextBox 11"/>
          <p:cNvSpPr txBox="1"/>
          <p:nvPr/>
        </p:nvSpPr>
        <p:spPr>
          <a:xfrm>
            <a:off x="685800" y="3383279"/>
            <a:ext cx="10972800" cy="1143000"/>
          </a:xfrm>
          <a:prstGeom prst="rect">
            <a:avLst/>
          </a:prstGeom>
          <a:noFill/>
        </p:spPr>
        <p:txBody>
          <a:bodyPr wrap="square">
            <a:spAutoFit/>
          </a:bodyPr>
          <a:lstStyle/>
          <a:p>
            <a:r>
              <a:rPr sz="1300">
                <a:solidFill>
                  <a:srgbClr val="000000"/>
                </a:solidFill>
                <a:latin typeface="Calibri"/>
              </a:rPr>
              <a:t>Largest cumulative movement of the three cohorts. Pre-event CARs relatively flat. Heavily overlaps with 2014 window — the two events cannot be treated as independent experiments given they applied to the same country within 16 months. Standard errors are undefined.</a:t>
            </a:r>
          </a:p>
        </p:txBody>
      </p:sp>
      <p:sp>
        <p:nvSpPr>
          <p:cNvPr id="13" name="Rectangle 12"/>
          <p:cNvSpPr/>
          <p:nvPr/>
        </p:nvSpPr>
        <p:spPr>
          <a:xfrm>
            <a:off x="502920" y="4572000"/>
            <a:ext cx="11155680" cy="292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4610100"/>
            <a:ext cx="10972800" cy="256032"/>
          </a:xfrm>
          <a:prstGeom prst="rect">
            <a:avLst/>
          </a:prstGeom>
          <a:noFill/>
        </p:spPr>
        <p:txBody>
          <a:bodyPr wrap="square">
            <a:spAutoFit/>
          </a:bodyPr>
          <a:lstStyle/>
          <a:p>
            <a:r>
              <a:rPr sz="1400" b="1">
                <a:solidFill>
                  <a:srgbClr val="FFFFFF"/>
                </a:solidFill>
                <a:latin typeface="Calibri"/>
              </a:rPr>
              <a:t>2023 TSE P/B Reform   CAR by τ = +24:  ≈ –6.48</a:t>
            </a:r>
          </a:p>
        </p:txBody>
      </p:sp>
      <p:sp>
        <p:nvSpPr>
          <p:cNvPr id="15" name="TextBox 14"/>
          <p:cNvSpPr txBox="1"/>
          <p:nvPr/>
        </p:nvSpPr>
        <p:spPr>
          <a:xfrm>
            <a:off x="685800" y="4892040"/>
            <a:ext cx="10972800" cy="1143000"/>
          </a:xfrm>
          <a:prstGeom prst="rect">
            <a:avLst/>
          </a:prstGeom>
          <a:noFill/>
        </p:spPr>
        <p:txBody>
          <a:bodyPr wrap="square">
            <a:spAutoFit/>
          </a:bodyPr>
          <a:lstStyle/>
          <a:p>
            <a:r>
              <a:rPr sz="1300">
                <a:solidFill>
                  <a:srgbClr val="000000"/>
                </a:solidFill>
                <a:latin typeface="Calibri"/>
              </a:rPr>
              <a:t>CARs become persistently negative after March 2023. Under the sign convention, this means the Korea–Japan spread worsened relative to its pre-event trend: TOPIX re-rated sharply higher while KOSPI did not. This is the clearest and most recent policy-relevant cohort.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Figure 2: Event-Window CARs Around Japan Reform Dates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Three panels showing cumulative abnormal KOSPI–TOPIX P/B spread; descriptive only, no confidence intervals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ure2_event_study.png"/>
          <p:cNvPicPr>
            <a:picLocks noChangeAspect="1"/>
          </p:cNvPicPr>
          <p:nvPr/>
        </p:nvPicPr>
        <p:blipFill>
          <a:blip r:embed="rId2"/>
          <a:stretch>
            <a:fillRect/>
          </a:stretch>
        </p:blipFill>
        <p:spPr>
          <a:xfrm>
            <a:off x="274320" y="1234440"/>
            <a:ext cx="11887200" cy="53949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Panel OLS Results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Two-way FE (country + time); wild-bootstrap p-values in brackets; N = 4 country clusters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365760"/>
          </a:xfrm>
          <a:prstGeom prst="rect">
            <a:avLst/>
          </a:prstGeom>
          <a:noFill/>
        </p:spPr>
        <p:txBody>
          <a:bodyPr wrap="square">
            <a:spAutoFit/>
          </a:bodyPr>
          <a:lstStyle/>
          <a:p>
            <a:endParaRPr/>
          </a:p>
          <a:p>
            <a:pPr algn="l">
              <a:spcBef>
                <a:spcPts val="0"/>
              </a:spcBef>
            </a:pPr>
            <a:r>
              <a:rPr sz="1400" b="0" i="1">
                <a:solidFill>
                  <a:srgbClr val="595959"/>
                </a:solidFill>
                <a:latin typeface="Calibri"/>
              </a:rPr>
              <a:t>Specification: Y_ct = α_c + α_t + Σ_k β_k · D_kt · 1[c = Japan] + ε_ct</a:t>
            </a:r>
          </a:p>
        </p:txBody>
      </p:sp>
      <p:sp>
        <p:nvSpPr>
          <p:cNvPr id="7" name="Rectangle 6"/>
          <p:cNvSpPr/>
          <p:nvPr/>
        </p:nvSpPr>
        <p:spPr>
          <a:xfrm>
            <a:off x="502920" y="1920240"/>
            <a:ext cx="5943600"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9120" y="1983740"/>
            <a:ext cx="5791200" cy="426720"/>
          </a:xfrm>
          <a:prstGeom prst="rect">
            <a:avLst/>
          </a:prstGeom>
          <a:noFill/>
        </p:spPr>
        <p:txBody>
          <a:bodyPr wrap="square">
            <a:spAutoFit/>
          </a:bodyPr>
          <a:lstStyle/>
          <a:p>
            <a:pPr algn="l"/>
            <a:r>
              <a:rPr sz="1500" b="1">
                <a:solidFill>
                  <a:srgbClr val="FFFFFF"/>
                </a:solidFill>
                <a:latin typeface="Calibri"/>
              </a:rPr>
              <a:t>Reform Interaction</a:t>
            </a:r>
          </a:p>
        </p:txBody>
      </p:sp>
      <p:sp>
        <p:nvSpPr>
          <p:cNvPr id="9" name="Rectangle 8"/>
          <p:cNvSpPr/>
          <p:nvPr/>
        </p:nvSpPr>
        <p:spPr>
          <a:xfrm>
            <a:off x="6492240" y="1920240"/>
            <a:ext cx="2194560"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68440" y="1983740"/>
            <a:ext cx="2042160" cy="426720"/>
          </a:xfrm>
          <a:prstGeom prst="rect">
            <a:avLst/>
          </a:prstGeom>
          <a:noFill/>
        </p:spPr>
        <p:txBody>
          <a:bodyPr wrap="square">
            <a:spAutoFit/>
          </a:bodyPr>
          <a:lstStyle/>
          <a:p>
            <a:pPr algn="ctr"/>
            <a:r>
              <a:rPr sz="1500" b="1">
                <a:solidFill>
                  <a:srgbClr val="FFFFFF"/>
                </a:solidFill>
                <a:latin typeface="Calibri"/>
              </a:rPr>
              <a:t>Coefficient</a:t>
            </a:r>
          </a:p>
        </p:txBody>
      </p:sp>
      <p:sp>
        <p:nvSpPr>
          <p:cNvPr id="11" name="Rectangle 10"/>
          <p:cNvSpPr/>
          <p:nvPr/>
        </p:nvSpPr>
        <p:spPr>
          <a:xfrm>
            <a:off x="8778240" y="1920240"/>
            <a:ext cx="2743200"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54440" y="1983740"/>
            <a:ext cx="2590800" cy="426720"/>
          </a:xfrm>
          <a:prstGeom prst="rect">
            <a:avLst/>
          </a:prstGeom>
          <a:noFill/>
        </p:spPr>
        <p:txBody>
          <a:bodyPr wrap="square">
            <a:spAutoFit/>
          </a:bodyPr>
          <a:lstStyle/>
          <a:p>
            <a:pPr algn="ctr"/>
            <a:r>
              <a:rPr sz="1500" b="1">
                <a:solidFill>
                  <a:srgbClr val="FFFFFF"/>
                </a:solidFill>
                <a:latin typeface="Calibri"/>
              </a:rPr>
              <a:t>Wild-bootstrap p-value</a:t>
            </a:r>
          </a:p>
        </p:txBody>
      </p:sp>
      <p:sp>
        <p:nvSpPr>
          <p:cNvPr id="13" name="Rectangle 12"/>
          <p:cNvSpPr/>
          <p:nvPr/>
        </p:nvSpPr>
        <p:spPr>
          <a:xfrm>
            <a:off x="502920" y="2423160"/>
            <a:ext cx="5943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9120" y="2486660"/>
            <a:ext cx="5791200" cy="426720"/>
          </a:xfrm>
          <a:prstGeom prst="rect">
            <a:avLst/>
          </a:prstGeom>
          <a:noFill/>
        </p:spPr>
        <p:txBody>
          <a:bodyPr wrap="square">
            <a:spAutoFit/>
          </a:bodyPr>
          <a:lstStyle/>
          <a:p>
            <a:pPr algn="l"/>
            <a:r>
              <a:rPr sz="1500" b="0">
                <a:solidFill>
                  <a:srgbClr val="000000"/>
                </a:solidFill>
                <a:latin typeface="Calibri"/>
              </a:rPr>
              <a:t>Stewardship Code × Japan</a:t>
            </a:r>
          </a:p>
        </p:txBody>
      </p:sp>
      <p:sp>
        <p:nvSpPr>
          <p:cNvPr id="15" name="Rectangle 14"/>
          <p:cNvSpPr/>
          <p:nvPr/>
        </p:nvSpPr>
        <p:spPr>
          <a:xfrm>
            <a:off x="6492240" y="2423160"/>
            <a:ext cx="219456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8440" y="2486660"/>
            <a:ext cx="2042160" cy="426720"/>
          </a:xfrm>
          <a:prstGeom prst="rect">
            <a:avLst/>
          </a:prstGeom>
          <a:noFill/>
        </p:spPr>
        <p:txBody>
          <a:bodyPr wrap="square">
            <a:spAutoFit/>
          </a:bodyPr>
          <a:lstStyle/>
          <a:p>
            <a:pPr algn="ctr"/>
            <a:r>
              <a:rPr sz="1500" b="0">
                <a:solidFill>
                  <a:srgbClr val="000000"/>
                </a:solidFill>
                <a:latin typeface="Calibri"/>
              </a:rPr>
              <a:t>+0.09</a:t>
            </a:r>
          </a:p>
        </p:txBody>
      </p:sp>
      <p:sp>
        <p:nvSpPr>
          <p:cNvPr id="17" name="Rectangle 16"/>
          <p:cNvSpPr/>
          <p:nvPr/>
        </p:nvSpPr>
        <p:spPr>
          <a:xfrm>
            <a:off x="8778240" y="2423160"/>
            <a:ext cx="2743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54440" y="2486660"/>
            <a:ext cx="2590800" cy="426720"/>
          </a:xfrm>
          <a:prstGeom prst="rect">
            <a:avLst/>
          </a:prstGeom>
          <a:noFill/>
        </p:spPr>
        <p:txBody>
          <a:bodyPr wrap="square">
            <a:spAutoFit/>
          </a:bodyPr>
          <a:lstStyle/>
          <a:p>
            <a:pPr algn="ctr"/>
            <a:r>
              <a:rPr sz="1500" b="0">
                <a:solidFill>
                  <a:srgbClr val="000000"/>
                </a:solidFill>
                <a:latin typeface="Calibri"/>
              </a:rPr>
              <a:t>0.625</a:t>
            </a:r>
          </a:p>
        </p:txBody>
      </p:sp>
      <p:sp>
        <p:nvSpPr>
          <p:cNvPr id="19" name="Rectangle 18"/>
          <p:cNvSpPr/>
          <p:nvPr/>
        </p:nvSpPr>
        <p:spPr>
          <a:xfrm>
            <a:off x="502920" y="2926080"/>
            <a:ext cx="5943600" cy="502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120" y="2989580"/>
            <a:ext cx="5791200" cy="426720"/>
          </a:xfrm>
          <a:prstGeom prst="rect">
            <a:avLst/>
          </a:prstGeom>
          <a:noFill/>
        </p:spPr>
        <p:txBody>
          <a:bodyPr wrap="square">
            <a:spAutoFit/>
          </a:bodyPr>
          <a:lstStyle/>
          <a:p>
            <a:pPr algn="l"/>
            <a:r>
              <a:rPr sz="1500" b="0">
                <a:solidFill>
                  <a:srgbClr val="000000"/>
                </a:solidFill>
                <a:latin typeface="Calibri"/>
              </a:rPr>
              <a:t>Corporate Governance Code × Japan</a:t>
            </a:r>
          </a:p>
        </p:txBody>
      </p:sp>
      <p:sp>
        <p:nvSpPr>
          <p:cNvPr id="21" name="Rectangle 20"/>
          <p:cNvSpPr/>
          <p:nvPr/>
        </p:nvSpPr>
        <p:spPr>
          <a:xfrm>
            <a:off x="6492240" y="2926080"/>
            <a:ext cx="2194560" cy="502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68440" y="2989580"/>
            <a:ext cx="2042160" cy="426720"/>
          </a:xfrm>
          <a:prstGeom prst="rect">
            <a:avLst/>
          </a:prstGeom>
          <a:noFill/>
        </p:spPr>
        <p:txBody>
          <a:bodyPr wrap="square">
            <a:spAutoFit/>
          </a:bodyPr>
          <a:lstStyle/>
          <a:p>
            <a:pPr algn="ctr"/>
            <a:r>
              <a:rPr sz="1500" b="0">
                <a:solidFill>
                  <a:srgbClr val="000000"/>
                </a:solidFill>
                <a:latin typeface="Calibri"/>
              </a:rPr>
              <a:t>–0.32</a:t>
            </a:r>
          </a:p>
        </p:txBody>
      </p:sp>
      <p:sp>
        <p:nvSpPr>
          <p:cNvPr id="23" name="Rectangle 22"/>
          <p:cNvSpPr/>
          <p:nvPr/>
        </p:nvSpPr>
        <p:spPr>
          <a:xfrm>
            <a:off x="8778240" y="2926080"/>
            <a:ext cx="2743200" cy="502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54440" y="2989580"/>
            <a:ext cx="2590800" cy="426720"/>
          </a:xfrm>
          <a:prstGeom prst="rect">
            <a:avLst/>
          </a:prstGeom>
          <a:noFill/>
        </p:spPr>
        <p:txBody>
          <a:bodyPr wrap="square">
            <a:spAutoFit/>
          </a:bodyPr>
          <a:lstStyle/>
          <a:p>
            <a:pPr algn="ctr"/>
            <a:r>
              <a:rPr sz="1500" b="0">
                <a:solidFill>
                  <a:srgbClr val="000000"/>
                </a:solidFill>
                <a:latin typeface="Calibri"/>
              </a:rPr>
              <a:t>0.375</a:t>
            </a:r>
          </a:p>
        </p:txBody>
      </p:sp>
      <p:sp>
        <p:nvSpPr>
          <p:cNvPr id="25" name="Rectangle 24"/>
          <p:cNvSpPr/>
          <p:nvPr/>
        </p:nvSpPr>
        <p:spPr>
          <a:xfrm>
            <a:off x="502920" y="3429000"/>
            <a:ext cx="5943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9120" y="3492500"/>
            <a:ext cx="5791200" cy="426720"/>
          </a:xfrm>
          <a:prstGeom prst="rect">
            <a:avLst/>
          </a:prstGeom>
          <a:noFill/>
        </p:spPr>
        <p:txBody>
          <a:bodyPr wrap="square">
            <a:spAutoFit/>
          </a:bodyPr>
          <a:lstStyle/>
          <a:p>
            <a:pPr algn="l"/>
            <a:r>
              <a:rPr sz="1500" b="0">
                <a:solidFill>
                  <a:srgbClr val="000000"/>
                </a:solidFill>
                <a:latin typeface="Calibri"/>
              </a:rPr>
              <a:t>TSE P/B Reform × Japan</a:t>
            </a:r>
          </a:p>
        </p:txBody>
      </p:sp>
      <p:sp>
        <p:nvSpPr>
          <p:cNvPr id="27" name="Rectangle 26"/>
          <p:cNvSpPr/>
          <p:nvPr/>
        </p:nvSpPr>
        <p:spPr>
          <a:xfrm>
            <a:off x="6492240" y="3429000"/>
            <a:ext cx="219456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68440" y="3492500"/>
            <a:ext cx="2042160" cy="426720"/>
          </a:xfrm>
          <a:prstGeom prst="rect">
            <a:avLst/>
          </a:prstGeom>
          <a:noFill/>
        </p:spPr>
        <p:txBody>
          <a:bodyPr wrap="square">
            <a:spAutoFit/>
          </a:bodyPr>
          <a:lstStyle/>
          <a:p>
            <a:pPr algn="ctr"/>
            <a:r>
              <a:rPr sz="1500" b="0">
                <a:solidFill>
                  <a:srgbClr val="000000"/>
                </a:solidFill>
                <a:latin typeface="Calibri"/>
              </a:rPr>
              <a:t>–0.23</a:t>
            </a:r>
          </a:p>
        </p:txBody>
      </p:sp>
      <p:sp>
        <p:nvSpPr>
          <p:cNvPr id="29" name="Rectangle 28"/>
          <p:cNvSpPr/>
          <p:nvPr/>
        </p:nvSpPr>
        <p:spPr>
          <a:xfrm>
            <a:off x="8778240" y="3429000"/>
            <a:ext cx="2743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854440" y="3492500"/>
            <a:ext cx="2590800" cy="426720"/>
          </a:xfrm>
          <a:prstGeom prst="rect">
            <a:avLst/>
          </a:prstGeom>
          <a:noFill/>
        </p:spPr>
        <p:txBody>
          <a:bodyPr wrap="square">
            <a:spAutoFit/>
          </a:bodyPr>
          <a:lstStyle/>
          <a:p>
            <a:pPr algn="ctr"/>
            <a:r>
              <a:rPr sz="1500" b="0">
                <a:solidFill>
                  <a:srgbClr val="000000"/>
                </a:solidFill>
                <a:latin typeface="Calibri"/>
              </a:rPr>
              <a:t>0.500</a:t>
            </a:r>
          </a:p>
        </p:txBody>
      </p:sp>
      <p:sp>
        <p:nvSpPr>
          <p:cNvPr id="31" name="TextBox 30"/>
          <p:cNvSpPr txBox="1"/>
          <p:nvPr/>
        </p:nvSpPr>
        <p:spPr>
          <a:xfrm>
            <a:off x="502920" y="4069080"/>
            <a:ext cx="11155680" cy="2468880"/>
          </a:xfrm>
          <a:prstGeom prst="rect">
            <a:avLst/>
          </a:prstGeom>
          <a:noFill/>
        </p:spPr>
        <p:txBody>
          <a:bodyPr wrap="square">
            <a:spAutoFit/>
          </a:bodyPr>
          <a:lstStyle/>
          <a:p>
            <a:endParaRPr/>
          </a:p>
          <a:p>
            <a:pPr algn="l">
              <a:spcBef>
                <a:spcPts val="0"/>
              </a:spcBef>
            </a:pPr>
            <a:r>
              <a:rPr sz="1700" b="1" i="0">
                <a:solidFill>
                  <a:srgbClr val="000000"/>
                </a:solidFill>
                <a:latin typeface="Calibri"/>
              </a:rPr>
              <a:t>Interpretation</a:t>
            </a:r>
          </a:p>
          <a:p>
            <a:pPr lvl="1" algn="l">
              <a:spcBef>
                <a:spcPts val="300"/>
              </a:spcBef>
            </a:pPr>
            <a:r>
              <a:rPr sz="1400" b="0" i="0">
                <a:solidFill>
                  <a:srgbClr val="000000"/>
                </a:solidFill>
                <a:latin typeface="Calibri"/>
              </a:rPr>
              <a:t>•  Two of three point estimates are negative — directionally inconsistent with the simple 'Japan re-rated up' narrative</a:t>
            </a:r>
          </a:p>
          <a:p>
            <a:pPr lvl="1" algn="l">
              <a:spcBef>
                <a:spcPts val="300"/>
              </a:spcBef>
            </a:pPr>
            <a:r>
              <a:rPr sz="1400" b="0" i="0">
                <a:solidFill>
                  <a:srgbClr val="000000"/>
                </a:solidFill>
                <a:latin typeface="Calibri"/>
              </a:rPr>
              <a:t>•  None of the three reform-by-Japan interactions achieves conventional significance (p &lt; 0.05) under wild bootstrap</a:t>
            </a:r>
          </a:p>
          <a:p>
            <a:pPr lvl="1" algn="l">
              <a:spcBef>
                <a:spcPts val="300"/>
              </a:spcBef>
            </a:pPr>
            <a:r>
              <a:rPr sz="1400" b="0" i="0">
                <a:solidFill>
                  <a:srgbClr val="000000"/>
                </a:solidFill>
                <a:latin typeface="Calibri"/>
              </a:rPr>
              <a:t>•  N = 4 country clusters means even the wild bootstrap has severely limited statistical power</a:t>
            </a:r>
          </a:p>
          <a:p>
            <a:pPr lvl="1" algn="l">
              <a:spcBef>
                <a:spcPts val="300"/>
              </a:spcBef>
            </a:pPr>
            <a:r>
              <a:rPr sz="1400" b="0" i="0">
                <a:solidFill>
                  <a:srgbClr val="000000"/>
                </a:solidFill>
                <a:latin typeface="Calibri"/>
              </a:rPr>
              <a:t>•  Interpret as: no robust causal evidence of a positive Japan governance re-rating effect at country-panel level</a:t>
            </a:r>
          </a:p>
          <a:p>
            <a:pPr lvl="1" algn="l">
              <a:spcBef>
                <a:spcPts val="300"/>
              </a:spcBef>
            </a:pPr>
            <a:r>
              <a:rPr sz="1400" b="0" i="0">
                <a:solidFill>
                  <a:srgbClr val="000000"/>
                </a:solidFill>
                <a:latin typeface="Calibri"/>
              </a:rPr>
              <a:t>•  The event-window and synthetic control corroborate structural descriptive trends; none of the three designs delivers clean causal identification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Geopolitical Risk Sub-Analysis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GPR escalation coefficient is statistically insignificant — risk priced as a level discount</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ure3_geo_risk.png"/>
          <p:cNvPicPr>
            <a:picLocks noChangeAspect="1"/>
          </p:cNvPicPr>
          <p:nvPr/>
        </p:nvPicPr>
        <p:blipFill>
          <a:blip r:embed="rId2"/>
          <a:stretch>
            <a:fillRect/>
          </a:stretch>
        </p:blipFill>
        <p:spPr>
          <a:xfrm>
            <a:off x="274320" y="1234440"/>
            <a:ext cx="6858000" cy="5349240"/>
          </a:xfrm>
          <a:prstGeom prst="rect">
            <a:avLst/>
          </a:prstGeom>
        </p:spPr>
      </p:pic>
      <p:sp>
        <p:nvSpPr>
          <p:cNvPr id="7" name="TextBox 6"/>
          <p:cNvSpPr txBox="1"/>
          <p:nvPr/>
        </p:nvSpPr>
        <p:spPr>
          <a:xfrm>
            <a:off x="7315200" y="1234440"/>
            <a:ext cx="4572000" cy="5349240"/>
          </a:xfrm>
          <a:prstGeom prst="rect">
            <a:avLst/>
          </a:prstGeom>
          <a:noFill/>
        </p:spPr>
        <p:txBody>
          <a:bodyPr wrap="square">
            <a:spAutoFit/>
          </a:bodyPr>
          <a:lstStyle/>
          <a:p>
            <a:endParaRPr/>
          </a:p>
          <a:p>
            <a:pPr algn="l">
              <a:spcBef>
                <a:spcPts val="0"/>
              </a:spcBef>
            </a:pPr>
            <a:r>
              <a:rPr sz="1700" b="1" i="0">
                <a:solidFill>
                  <a:srgbClr val="000000"/>
                </a:solidFill>
                <a:latin typeface="Calibri"/>
              </a:rPr>
              <a:t>Key results</a:t>
            </a:r>
          </a:p>
          <a:p>
            <a:pPr lvl="1" algn="l">
              <a:spcBef>
                <a:spcPts val="500"/>
              </a:spcBef>
            </a:pPr>
            <a:r>
              <a:rPr sz="1400" b="0" i="0">
                <a:solidFill>
                  <a:srgbClr val="000000"/>
                </a:solidFill>
                <a:latin typeface="Calibri"/>
              </a:rPr>
              <a:t>•  GPR escalation coefficient: –0.02 (t = –0.84, p = 0.40)</a:t>
            </a:r>
          </a:p>
          <a:p>
            <a:pPr lvl="1" algn="l">
              <a:spcBef>
                <a:spcPts val="500"/>
              </a:spcBef>
            </a:pPr>
            <a:r>
              <a:rPr sz="1400" b="0" i="0">
                <a:solidFill>
                  <a:srgbClr val="000000"/>
                </a:solidFill>
                <a:latin typeface="Calibri"/>
              </a:rPr>
              <a:t>•  Statistically insignificant at conventional levels</a:t>
            </a:r>
          </a:p>
          <a:p>
            <a:pPr lvl="1" algn="l">
              <a:spcBef>
                <a:spcPts val="500"/>
              </a:spcBef>
            </a:pPr>
            <a:r>
              <a:rPr sz="1400" b="0" i="0">
                <a:solidFill>
                  <a:srgbClr val="000000"/>
                </a:solidFill>
                <a:latin typeface="Calibri"/>
              </a:rPr>
              <a:t>•  TOPIX P/B coefficient: +0.63 (t = 5.40) — captures broader governance valuation convergence</a:t>
            </a:r>
          </a:p>
          <a:p>
            <a:pPr algn="l">
              <a:spcBef>
                <a:spcPts val="1000"/>
              </a:spcBef>
            </a:pPr>
            <a:r>
              <a:rPr sz="1600" b="1" i="0">
                <a:solidFill>
                  <a:srgbClr val="000000"/>
                </a:solidFill>
                <a:latin typeface="Calibri"/>
              </a:rPr>
              <a:t>
Interpretation</a:t>
            </a:r>
          </a:p>
          <a:p>
            <a:pPr lvl="1" algn="l">
              <a:spcBef>
                <a:spcPts val="400"/>
              </a:spcBef>
            </a:pPr>
            <a:r>
              <a:rPr sz="1300" b="0" i="0">
                <a:solidFill>
                  <a:srgbClr val="000000"/>
                </a:solidFill>
                <a:latin typeface="Calibri"/>
              </a:rPr>
              <a:t>•  Markets appear to price North Korean geopolitical risk continuously as a structural level discount, not through discrete monthly reactions to escalation events</a:t>
            </a:r>
          </a:p>
          <a:p>
            <a:pPr lvl="1" algn="l">
              <a:spcBef>
                <a:spcPts val="400"/>
              </a:spcBef>
            </a:pPr>
            <a:r>
              <a:rPr sz="1300" b="0" i="0">
                <a:solidFill>
                  <a:srgbClr val="000000"/>
                </a:solidFill>
                <a:latin typeface="Calibri"/>
              </a:rPr>
              <a:t>•  Consistent with IMF (2021): provocations primarily affect systematic risk / market beta</a:t>
            </a:r>
          </a:p>
          <a:p>
            <a:pPr lvl="1" algn="l">
              <a:spcBef>
                <a:spcPts val="400"/>
              </a:spcBef>
            </a:pPr>
            <a:r>
              <a:rPr sz="1300" b="0" i="0">
                <a:solidFill>
                  <a:srgbClr val="000000"/>
                </a:solidFill>
                <a:latin typeface="Calibri"/>
              </a:rPr>
              <a:t>•  Caveat: GPR dummy may be correlated with global risk-off episodes; monthly frequency may miss ephemeral reactions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Synthetic Control: 2023 TSE P/B Reform</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Actual minus synthetic Japan P/B; donor pool = regional Asian EM peers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ure_synth_gap.png"/>
          <p:cNvPicPr>
            <a:picLocks noChangeAspect="1"/>
          </p:cNvPicPr>
          <p:nvPr/>
        </p:nvPicPr>
        <p:blipFill>
          <a:blip r:embed="rId2"/>
          <a:stretch>
            <a:fillRect/>
          </a:stretch>
        </p:blipFill>
        <p:spPr>
          <a:xfrm>
            <a:off x="274320" y="1234440"/>
            <a:ext cx="6858000" cy="5349240"/>
          </a:xfrm>
          <a:prstGeom prst="rect">
            <a:avLst/>
          </a:prstGeom>
        </p:spPr>
      </p:pic>
      <p:sp>
        <p:nvSpPr>
          <p:cNvPr id="7" name="TextBox 6"/>
          <p:cNvSpPr txBox="1"/>
          <p:nvPr/>
        </p:nvSpPr>
        <p:spPr>
          <a:xfrm>
            <a:off x="7315200" y="1234440"/>
            <a:ext cx="4572000" cy="5349240"/>
          </a:xfrm>
          <a:prstGeom prst="rect">
            <a:avLst/>
          </a:prstGeom>
          <a:noFill/>
        </p:spPr>
        <p:txBody>
          <a:bodyPr wrap="square">
            <a:spAutoFit/>
          </a:bodyPr>
          <a:lstStyle/>
          <a:p>
            <a:endParaRPr/>
          </a:p>
          <a:p>
            <a:pPr algn="l">
              <a:spcBef>
                <a:spcPts val="0"/>
              </a:spcBef>
            </a:pPr>
            <a:r>
              <a:rPr sz="1700" b="1" i="0">
                <a:solidFill>
                  <a:srgbClr val="000000"/>
                </a:solidFill>
                <a:latin typeface="Calibri"/>
              </a:rPr>
              <a:t>Construction</a:t>
            </a:r>
          </a:p>
          <a:p>
            <a:pPr lvl="1" algn="l">
              <a:spcBef>
                <a:spcPts val="400"/>
              </a:spcBef>
            </a:pPr>
            <a:r>
              <a:rPr sz="1300" b="0" i="0">
                <a:solidFill>
                  <a:srgbClr val="000000"/>
                </a:solidFill>
                <a:latin typeface="Calibri"/>
              </a:rPr>
              <a:t>•  Donor pool: MSCI EM, MSCI EM Asia, MSCI HK, MSCI Taiwan, MSCI China, MSCI India, MSCI Indonesia</a:t>
            </a:r>
          </a:p>
          <a:p>
            <a:pPr lvl="1" algn="l">
              <a:spcBef>
                <a:spcPts val="400"/>
              </a:spcBef>
            </a:pPr>
            <a:r>
              <a:rPr sz="1300" b="0" i="0">
                <a:solidFill>
                  <a:srgbClr val="000000"/>
                </a:solidFill>
                <a:latin typeface="Calibri"/>
              </a:rPr>
              <a:t>•  Optimization on demeaned TOPIX P/B (each unit demaned by pre-treatment mean)</a:t>
            </a:r>
          </a:p>
          <a:p>
            <a:pPr lvl="1" algn="l">
              <a:spcBef>
                <a:spcPts val="400"/>
              </a:spcBef>
            </a:pPr>
            <a:r>
              <a:rPr sz="1300" b="0" i="0">
                <a:solidFill>
                  <a:srgbClr val="000000"/>
                </a:solidFill>
                <a:latin typeface="Calibri"/>
              </a:rPr>
              <a:t>•  Demeaning resolves convex-hull boundary from Japan's structurally low absolute level</a:t>
            </a:r>
          </a:p>
          <a:p>
            <a:pPr lvl="1" algn="l">
              <a:spcBef>
                <a:spcPts val="400"/>
              </a:spcBef>
            </a:pPr>
            <a:r>
              <a:rPr sz="1300" b="0" i="0">
                <a:solidFill>
                  <a:srgbClr val="000000"/>
                </a:solidFill>
                <a:latin typeface="Calibri"/>
              </a:rPr>
              <a:t>•  KOSPI excluded to avoid using the primary comparison market as part of the Japan counterfactual</a:t>
            </a:r>
          </a:p>
          <a:p>
            <a:pPr algn="l">
              <a:spcBef>
                <a:spcPts val="800"/>
              </a:spcBef>
            </a:pPr>
            <a:r>
              <a:rPr sz="1700" b="1" i="0">
                <a:solidFill>
                  <a:srgbClr val="000000"/>
                </a:solidFill>
                <a:latin typeface="Calibri"/>
              </a:rPr>
              <a:t>
Results</a:t>
            </a:r>
          </a:p>
          <a:p>
            <a:pPr lvl="1" algn="l">
              <a:spcBef>
                <a:spcPts val="400"/>
              </a:spcBef>
            </a:pPr>
            <a:r>
              <a:rPr sz="1300" b="0" i="0">
                <a:solidFill>
                  <a:srgbClr val="000000"/>
                </a:solidFill>
                <a:latin typeface="Calibri"/>
              </a:rPr>
              <a:t>•  Optimal weight: MSCI EM Asia = 1.0 (all other donors: 0%) — single-donor solution</a:t>
            </a:r>
          </a:p>
          <a:p>
            <a:pPr lvl="1" algn="l">
              <a:spcBef>
                <a:spcPts val="400"/>
              </a:spcBef>
            </a:pPr>
            <a:r>
              <a:rPr sz="1300" b="0" i="0">
                <a:solidFill>
                  <a:srgbClr val="000000"/>
                </a:solidFill>
                <a:latin typeface="Calibri"/>
              </a:rPr>
              <a:t>•  Pre-treatment RMSPE: 0.1451 (close to but below 0.15 threshold)</a:t>
            </a:r>
          </a:p>
          <a:p>
            <a:pPr lvl="1" algn="l">
              <a:spcBef>
                <a:spcPts val="400"/>
              </a:spcBef>
            </a:pPr>
            <a:r>
              <a:rPr sz="1300" b="0" i="0">
                <a:solidFill>
                  <a:srgbClr val="000000"/>
                </a:solidFill>
                <a:latin typeface="Calibri"/>
              </a:rPr>
              <a:t>•  Average post-reform gap: modestly positive (Japan slightly above synthetic)</a:t>
            </a:r>
          </a:p>
          <a:p>
            <a:pPr lvl="1" algn="l">
              <a:spcBef>
                <a:spcPts val="400"/>
              </a:spcBef>
            </a:pPr>
            <a:r>
              <a:rPr sz="1300" b="0" i="0">
                <a:solidFill>
                  <a:srgbClr val="000000"/>
                </a:solidFill>
                <a:latin typeface="Calibri"/>
              </a:rPr>
              <a:t>•  First 18-month gap change: –0.0028 per month (fading, not widening)</a:t>
            </a:r>
          </a:p>
          <a:p>
            <a:pPr algn="l">
              <a:spcBef>
                <a:spcPts val="800"/>
              </a:spcBef>
            </a:pPr>
            <a:r>
              <a:rPr sz="1300" b="0" i="1">
                <a:solidFill>
                  <a:srgbClr val="595959"/>
                </a:solidFill>
                <a:latin typeface="Calibri"/>
              </a:rPr>
              <a:t>
Conclusion: Japan's post-2023 P/B lift broadly matched its synthetic Asian EM peer. No sustained monotonic Japan-specific governance premium detected after 2023.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377440"/>
            <a:ext cx="9144000" cy="1097280"/>
          </a:xfrm>
          <a:prstGeom prst="rect">
            <a:avLst/>
          </a:prstGeom>
          <a:noFill/>
        </p:spPr>
        <p:txBody>
          <a:bodyPr wrap="square">
            <a:spAutoFit/>
          </a:bodyPr>
          <a:lstStyle/>
          <a:p>
            <a:pPr algn="ctr"/>
            <a:r>
              <a:rPr sz="4000" b="1">
                <a:solidFill>
                  <a:srgbClr val="FFFFFF"/>
                </a:solidFill>
                <a:latin typeface="Calibri"/>
              </a:rPr>
              <a:t>Discussion</a:t>
            </a:r>
          </a:p>
        </p:txBody>
      </p:sp>
      <p:sp>
        <p:nvSpPr>
          <p:cNvPr id="4" name="TextBox 3"/>
          <p:cNvSpPr txBox="1"/>
          <p:nvPr/>
        </p:nvSpPr>
        <p:spPr>
          <a:xfrm>
            <a:off x="1371600" y="3520440"/>
            <a:ext cx="9144000" cy="731520"/>
          </a:xfrm>
          <a:prstGeom prst="rect">
            <a:avLst/>
          </a:prstGeom>
          <a:noFill/>
        </p:spPr>
        <p:txBody>
          <a:bodyPr wrap="square">
            <a:spAutoFit/>
          </a:bodyPr>
          <a:lstStyle/>
          <a:p>
            <a:pPr algn="ctr"/>
            <a:r>
              <a:rPr sz="1800" b="0">
                <a:solidFill>
                  <a:srgbClr val="D9D9D9"/>
                </a:solidFill>
                <a:latin typeface="Calibri"/>
              </a:rPr>
              <a:t>Limitations · Policy Implications · Conclusions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Key Limitations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Honest assessment of what the evidence can and cannot support</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600"/>
              </a:spcBef>
            </a:pPr>
            <a:r>
              <a:rPr sz="1500" b="1" i="0">
                <a:solidFill>
                  <a:srgbClr val="000000"/>
                </a:solidFill>
                <a:latin typeface="Calibri"/>
              </a:rPr>
              <a:t>1.  Single Treated Unit  (N = 1 treated country)</a:t>
            </a:r>
          </a:p>
          <a:p>
            <a:pPr lvl="1" algn="l">
              <a:spcBef>
                <a:spcPts val="200"/>
              </a:spcBef>
            </a:pPr>
            <a:r>
              <a:rPr sz="1300" b="0" i="0">
                <a:solidFill>
                  <a:srgbClr val="000000"/>
                </a:solidFill>
                <a:latin typeface="Calibri"/>
              </a:rPr>
              <a:t>•  Japan is the only treated country → cluster-robust SEs for the treated unit are undefined</a:t>
            </a:r>
          </a:p>
          <a:p>
            <a:pPr lvl="1" algn="l">
              <a:spcBef>
                <a:spcPts val="200"/>
              </a:spcBef>
            </a:pPr>
            <a:r>
              <a:rPr sz="1300" b="0" i="0">
                <a:solidFill>
                  <a:srgbClr val="000000"/>
                </a:solidFill>
                <a:latin typeface="Calibri"/>
              </a:rPr>
              <a:t>•  Three reform cohorts are not independent: all three events occurred to the same country</a:t>
            </a:r>
          </a:p>
          <a:p>
            <a:pPr lvl="1" algn="l">
              <a:spcBef>
                <a:spcPts val="200"/>
              </a:spcBef>
            </a:pPr>
            <a:r>
              <a:rPr sz="1300" b="0" i="0">
                <a:solidFill>
                  <a:srgbClr val="000000"/>
                </a:solidFill>
                <a:latin typeface="Calibri"/>
              </a:rPr>
              <a:t>•  2014 and 2015 reform windows overlap → cannot be treated as separate experiments</a:t>
            </a:r>
          </a:p>
          <a:p>
            <a:pPr lvl="1" algn="l">
              <a:spcBef>
                <a:spcPts val="200"/>
              </a:spcBef>
            </a:pPr>
            <a:r>
              <a:rPr sz="1300" b="0" i="0">
                <a:solidFill>
                  <a:srgbClr val="000000"/>
                </a:solidFill>
                <a:latin typeface="Calibri"/>
              </a:rPr>
              <a:t>•  Event-window evidence should be read as descriptive timing evidence, not precise causal estimates</a:t>
            </a:r>
          </a:p>
          <a:p>
            <a:pPr algn="l">
              <a:spcBef>
                <a:spcPts val="600"/>
              </a:spcBef>
            </a:pPr>
            <a:r>
              <a:rPr sz="1500" b="1" i="0">
                <a:solidFill>
                  <a:srgbClr val="000000"/>
                </a:solidFill>
                <a:latin typeface="Calibri"/>
              </a:rPr>
              <a:t>2.  The Abenomics Confound</a:t>
            </a:r>
          </a:p>
          <a:p>
            <a:pPr lvl="1" algn="l">
              <a:spcBef>
                <a:spcPts val="200"/>
              </a:spcBef>
            </a:pPr>
            <a:r>
              <a:rPr sz="1300" b="0" i="0">
                <a:solidFill>
                  <a:srgbClr val="000000"/>
                </a:solidFill>
                <a:latin typeface="Calibri"/>
              </a:rPr>
              <a:t>•  Japan's reforms coincided with Abenomics: BoJ QQE (Apr 2013) + Yield Curve Control (Sep 2016)</a:t>
            </a:r>
          </a:p>
          <a:p>
            <a:pPr lvl="1" algn="l">
              <a:spcBef>
                <a:spcPts val="200"/>
              </a:spcBef>
            </a:pPr>
            <a:r>
              <a:rPr sz="1300" b="0" i="0">
                <a:solidFill>
                  <a:srgbClr val="000000"/>
                </a:solidFill>
                <a:latin typeface="Calibri"/>
              </a:rPr>
              <a:t>•  Yen depreciation → improved exporter competitiveness + compressed discount rates → mechanically higher P/B</a:t>
            </a:r>
          </a:p>
          <a:p>
            <a:pPr lvl="1" algn="l">
              <a:spcBef>
                <a:spcPts val="200"/>
              </a:spcBef>
            </a:pPr>
            <a:r>
              <a:rPr sz="1300" b="0" i="0">
                <a:solidFill>
                  <a:srgbClr val="000000"/>
                </a:solidFill>
                <a:latin typeface="Calibri"/>
              </a:rPr>
              <a:t>•  2023 TSE reform occurs outside peak Abenomics → cleanest governance-only window</a:t>
            </a:r>
          </a:p>
          <a:p>
            <a:pPr lvl="1" algn="l">
              <a:spcBef>
                <a:spcPts val="200"/>
              </a:spcBef>
            </a:pPr>
            <a:r>
              <a:rPr sz="1300" b="0" i="0">
                <a:solidFill>
                  <a:srgbClr val="000000"/>
                </a:solidFill>
                <a:latin typeface="Calibri"/>
              </a:rPr>
              <a:t>•  Two-way FE absorbs common time shocks but cannot cleanly separate governance reform from Japan-specific macro</a:t>
            </a:r>
          </a:p>
          <a:p>
            <a:pPr algn="l">
              <a:spcBef>
                <a:spcPts val="600"/>
              </a:spcBef>
            </a:pPr>
            <a:r>
              <a:rPr sz="1500" b="1" i="0">
                <a:solidFill>
                  <a:srgbClr val="000000"/>
                </a:solidFill>
                <a:latin typeface="Calibri"/>
              </a:rPr>
              <a:t>3.  Japan-to-Korea Generalizability</a:t>
            </a:r>
          </a:p>
          <a:p>
            <a:pPr lvl="1" algn="l">
              <a:spcBef>
                <a:spcPts val="200"/>
              </a:spcBef>
            </a:pPr>
            <a:r>
              <a:rPr sz="1300" b="0" i="0">
                <a:solidFill>
                  <a:srgbClr val="000000"/>
                </a:solidFill>
                <a:latin typeface="Calibri"/>
              </a:rPr>
              <a:t>•  Korea's chaebol concentration more extreme than Japan's keiretsu structure</a:t>
            </a:r>
          </a:p>
          <a:p>
            <a:pPr lvl="1" algn="l">
              <a:spcBef>
                <a:spcPts val="200"/>
              </a:spcBef>
            </a:pPr>
            <a:r>
              <a:rPr sz="1300" b="0" i="0">
                <a:solidFill>
                  <a:srgbClr val="000000"/>
                </a:solidFill>
                <a:latin typeface="Calibri"/>
              </a:rPr>
              <a:t>•  If controlling families can dilute reform implementation, Korea's trajectory may be slower or less complete</a:t>
            </a:r>
          </a:p>
          <a:p>
            <a:pPr lvl="1" algn="l">
              <a:spcBef>
                <a:spcPts val="200"/>
              </a:spcBef>
            </a:pPr>
            <a:r>
              <a:rPr sz="1300" b="0" i="0">
                <a:solidFill>
                  <a:srgbClr val="000000"/>
                </a:solidFill>
                <a:latin typeface="Calibri"/>
              </a:rPr>
              <a:t>•  Geopolitical risk premium from North Korea has no Japanese equivalent — governance reform alone cannot eliminate it</a:t>
            </a:r>
          </a:p>
          <a:p>
            <a:pPr lvl="1" algn="l">
              <a:spcBef>
                <a:spcPts val="200"/>
              </a:spcBef>
            </a:pPr>
            <a:r>
              <a:rPr sz="1300" b="0" i="0">
                <a:solidFill>
                  <a:srgbClr val="000000"/>
                </a:solidFill>
                <a:latin typeface="Calibri"/>
              </a:rPr>
              <a:t>•  Counterfactual projection captures only the governance-reform component of the Korea Discount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Policy Implications</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Three sequenced levers — calibrated from Japan's reform experience (grounded in institutional channels, not precise causal estimates)</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5349240"/>
          </a:xfrm>
          <a:prstGeom prst="rect">
            <a:avLst/>
          </a:prstGeom>
          <a:noFill/>
        </p:spPr>
        <p:txBody>
          <a:bodyPr wrap="square">
            <a:spAutoFit/>
          </a:bodyPr>
          <a:lstStyle/>
          <a:p>
            <a:endParaRPr/>
          </a:p>
          <a:p>
            <a:pPr algn="l">
              <a:spcBef>
                <a:spcPts val="800"/>
              </a:spcBef>
            </a:pPr>
            <a:r>
              <a:rPr sz="1500" b="1" i="0">
                <a:solidFill>
                  <a:srgbClr val="000000"/>
                </a:solidFill>
                <a:latin typeface="Calibri"/>
              </a:rPr>
              <a:t>1.  FSC Mandatory Capital Efficiency Disclosure</a:t>
            </a:r>
          </a:p>
          <a:p>
            <a:pPr lvl="1" algn="l">
              <a:spcBef>
                <a:spcPts val="200"/>
              </a:spcBef>
            </a:pPr>
            <a:r>
              <a:rPr sz="1300" b="0" i="0">
                <a:solidFill>
                  <a:srgbClr val="000000"/>
                </a:solidFill>
                <a:latin typeface="Calibri"/>
              </a:rPr>
              <a:t>Require all KOSPI companies trading below 1.0× book value to disclose multi-year P/B improvement plans on a mandatory comply-or-explain basis. Korea's 2024 Value-Up Program moves in this direction but remains voluntary — compliance with voluntary programs is historically lower. Disclosures should include: cost-of-equity baseline, specific P/B / ROE / dividend targets, operational action plans, and annual board-level progress reports with KRX-enforced penalties.</a:t>
            </a:r>
          </a:p>
          <a:p>
            <a:pPr algn="l">
              <a:spcBef>
                <a:spcPts val="800"/>
              </a:spcBef>
            </a:pPr>
            <a:r>
              <a:rPr sz="1500" b="1" i="0">
                <a:solidFill>
                  <a:srgbClr val="000000"/>
                </a:solidFill>
                <a:latin typeface="Calibri"/>
              </a:rPr>
              <a:t>2.  KRX Listing Standards Reform</a:t>
            </a:r>
          </a:p>
          <a:p>
            <a:pPr lvl="1" algn="l">
              <a:spcBef>
                <a:spcPts val="200"/>
              </a:spcBef>
            </a:pPr>
            <a:r>
              <a:rPr sz="1300" b="0" i="0">
                <a:solidFill>
                  <a:srgbClr val="000000"/>
                </a:solidFill>
                <a:latin typeface="Calibri"/>
              </a:rPr>
              <a:t>Amend KRX rules: (i) ≥ 50% independent board composition for large-cap KOSPI issuers; (ii) enhanced disclosure of material related-party transactions (NYSE FPI thresholds); (iii) audit committee independence from controlling shareholders for chaebol-affiliated companies. Directly reduces principal–principal agency costs (La Porta et al. 1998, 2002).</a:t>
            </a:r>
          </a:p>
          <a:p>
            <a:pPr algn="l">
              <a:spcBef>
                <a:spcPts val="800"/>
              </a:spcBef>
            </a:pPr>
            <a:r>
              <a:rPr sz="1500" b="1" i="0">
                <a:solidFill>
                  <a:srgbClr val="000000"/>
                </a:solidFill>
                <a:latin typeface="Calibri"/>
              </a:rPr>
              <a:t>3.  Korean Stewardship Code Strengthening</a:t>
            </a:r>
          </a:p>
          <a:p>
            <a:pPr lvl="1" algn="l">
              <a:spcBef>
                <a:spcPts val="200"/>
              </a:spcBef>
            </a:pPr>
            <a:r>
              <a:rPr sz="1300" b="0" i="0">
                <a:solidFill>
                  <a:srgbClr val="000000"/>
                </a:solidFill>
                <a:latin typeface="Calibri"/>
              </a:rPr>
              <a:t>Amend 2016 Stewardship Code: (i) annual publication of voting records with rationale for votes against management; (ii) mandatory engagement with investee companies showing persistent below-peer P/B for ≥ 3 years; (iii) NPS to establish a dedicated governance engagement division. Japan's cross-shareholding unwinding (Miyajima 2023) shows Stewardship Code activation is a key transmission mechanism between governance reform and P/B improvement.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Illustrative Counterfactual Projection</a:t>
            </a:r>
          </a:p>
        </p:txBody>
      </p:sp>
      <p:sp>
        <p:nvSpPr>
          <p:cNvPr id="4" name="TextBox 3"/>
          <p:cNvSpPr txBox="1"/>
          <p:nvPr/>
        </p:nvSpPr>
        <p:spPr>
          <a:xfrm>
            <a:off x="502920" y="777240"/>
            <a:ext cx="11155680" cy="365760"/>
          </a:xfrm>
          <a:prstGeom prst="rect">
            <a:avLst/>
          </a:prstGeom>
          <a:noFill/>
        </p:spPr>
        <p:txBody>
          <a:bodyPr wrap="square">
            <a:spAutoFit/>
          </a:bodyPr>
          <a:lstStyle/>
          <a:p>
            <a:pPr algn="l"/>
            <a:r>
              <a:rPr sz="1400">
                <a:solidFill>
                  <a:srgbClr val="595959"/>
                </a:solidFill>
                <a:latin typeface="Calibri"/>
              </a:rPr>
              <a:t>KOSPI P/B under a Korea governance reform scenario — stress test, not a forecast</a:t>
            </a:r>
          </a:p>
        </p:txBody>
      </p:sp>
      <p:sp>
        <p:nvSpPr>
          <p:cNvPr id="5" name="Rectangle 4"/>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ure4_counterfactual_projection.png"/>
          <p:cNvPicPr>
            <a:picLocks noChangeAspect="1"/>
          </p:cNvPicPr>
          <p:nvPr/>
        </p:nvPicPr>
        <p:blipFill>
          <a:blip r:embed="rId2"/>
          <a:stretch>
            <a:fillRect/>
          </a:stretch>
        </p:blipFill>
        <p:spPr>
          <a:xfrm>
            <a:off x="274320" y="1234440"/>
            <a:ext cx="6858000" cy="5349240"/>
          </a:xfrm>
          <a:prstGeom prst="rect">
            <a:avLst/>
          </a:prstGeom>
        </p:spPr>
      </p:pic>
      <p:sp>
        <p:nvSpPr>
          <p:cNvPr id="7" name="TextBox 6"/>
          <p:cNvSpPr txBox="1"/>
          <p:nvPr/>
        </p:nvSpPr>
        <p:spPr>
          <a:xfrm>
            <a:off x="7315200" y="1234440"/>
            <a:ext cx="4572000" cy="5349240"/>
          </a:xfrm>
          <a:prstGeom prst="rect">
            <a:avLst/>
          </a:prstGeom>
          <a:noFill/>
        </p:spPr>
        <p:txBody>
          <a:bodyPr wrap="square">
            <a:spAutoFit/>
          </a:bodyPr>
          <a:lstStyle/>
          <a:p>
            <a:endParaRPr/>
          </a:p>
          <a:p>
            <a:pPr algn="l">
              <a:spcBef>
                <a:spcPts val="0"/>
              </a:spcBef>
            </a:pPr>
            <a:r>
              <a:rPr sz="1600" b="1" i="0">
                <a:solidFill>
                  <a:srgbClr val="000000"/>
                </a:solidFill>
                <a:latin typeface="Calibri"/>
              </a:rPr>
              <a:t>Construction</a:t>
            </a:r>
          </a:p>
          <a:p>
            <a:pPr lvl="1" algn="l">
              <a:spcBef>
                <a:spcPts val="400"/>
              </a:spcBef>
            </a:pPr>
            <a:r>
              <a:rPr sz="1300" b="0" i="0">
                <a:solidFill>
                  <a:srgbClr val="000000"/>
                </a:solidFill>
                <a:latin typeface="Calibri"/>
              </a:rPr>
              <a:t>•  Starting point: KOSPI P/B ≈ 0.93× (December 2024)</a:t>
            </a:r>
          </a:p>
          <a:p>
            <a:pPr lvl="1" algn="l">
              <a:spcBef>
                <a:spcPts val="400"/>
              </a:spcBef>
            </a:pPr>
            <a:r>
              <a:rPr sz="1300" b="0" i="0">
                <a:solidFill>
                  <a:srgbClr val="000000"/>
                </a:solidFill>
                <a:latin typeface="Calibri"/>
              </a:rPr>
              <a:t>•  Applied rate: average monthly change in Japan's synthetic-control gap over first 18 post-reform months (–0.0028 per month)</a:t>
            </a:r>
          </a:p>
          <a:p>
            <a:pPr lvl="1" algn="l">
              <a:spcBef>
                <a:spcPts val="400"/>
              </a:spcBef>
            </a:pPr>
            <a:r>
              <a:rPr sz="1300" b="0" i="0">
                <a:solidFill>
                  <a:srgbClr val="000000"/>
                </a:solidFill>
                <a:latin typeface="Calibri"/>
              </a:rPr>
              <a:t>•  Uncertainty band: ± RMSPE = ± 0.1451</a:t>
            </a:r>
          </a:p>
          <a:p>
            <a:pPr lvl="1" algn="l">
              <a:spcBef>
                <a:spcPts val="400"/>
              </a:spcBef>
            </a:pPr>
            <a:r>
              <a:rPr sz="1300" b="0" i="0">
                <a:solidFill>
                  <a:srgbClr val="000000"/>
                </a:solidFill>
                <a:latin typeface="Calibri"/>
              </a:rPr>
              <a:t>•  Shaded region represents synthetic-control estimation uncertainty</a:t>
            </a:r>
          </a:p>
          <a:p>
            <a:pPr algn="l">
              <a:spcBef>
                <a:spcPts val="800"/>
              </a:spcBef>
            </a:pPr>
            <a:r>
              <a:rPr sz="1600" b="1" i="0">
                <a:solidFill>
                  <a:srgbClr val="000000"/>
                </a:solidFill>
                <a:latin typeface="Calibri"/>
              </a:rPr>
              <a:t>
Result</a:t>
            </a:r>
          </a:p>
          <a:p>
            <a:pPr algn="l">
              <a:spcBef>
                <a:spcPts val="200"/>
              </a:spcBef>
            </a:pPr>
            <a:r>
              <a:rPr sz="1300" b="0" i="0">
                <a:solidFill>
                  <a:srgbClr val="000000"/>
                </a:solidFill>
                <a:latin typeface="Calibri"/>
              </a:rPr>
              <a:t>Because the Japan post-2023 relative gap change is negative (–0.0028/month), the mechanical projection does not close the Korea Discount. This is a stress test of the Japan-calibrated extrapolation, not a prediction of policy success.</a:t>
            </a:r>
          </a:p>
          <a:p>
            <a:pPr algn="l">
              <a:spcBef>
                <a:spcPts val="800"/>
              </a:spcBef>
            </a:pPr>
            <a:r>
              <a:rPr sz="1600" b="1" i="0">
                <a:solidFill>
                  <a:srgbClr val="000000"/>
                </a:solidFill>
                <a:latin typeface="Calibri"/>
              </a:rPr>
              <a:t>
Caveats</a:t>
            </a:r>
          </a:p>
          <a:p>
            <a:pPr lvl="1" algn="l">
              <a:spcBef>
                <a:spcPts val="300"/>
              </a:spcBef>
            </a:pPr>
            <a:r>
              <a:rPr sz="1200" b="0" i="1">
                <a:solidFill>
                  <a:srgbClr val="595959"/>
                </a:solidFill>
                <a:latin typeface="Calibri"/>
              </a:rPr>
              <a:t>•  Assumes Korea replicates Japan's post-2023 P/B trajectory</a:t>
            </a:r>
          </a:p>
          <a:p>
            <a:pPr lvl="1" algn="l">
              <a:spcBef>
                <a:spcPts val="300"/>
              </a:spcBef>
            </a:pPr>
            <a:r>
              <a:rPr sz="1200" b="0" i="1">
                <a:solidFill>
                  <a:srgbClr val="595959"/>
                </a:solidFill>
                <a:latin typeface="Calibri"/>
              </a:rPr>
              <a:t>•  Cannot resolve the North Korea geopolitical risk premium</a:t>
            </a:r>
          </a:p>
          <a:p>
            <a:pPr lvl="1" algn="l">
              <a:spcBef>
                <a:spcPts val="300"/>
              </a:spcBef>
            </a:pPr>
            <a:r>
              <a:rPr sz="1200" b="0" i="1">
                <a:solidFill>
                  <a:srgbClr val="595959"/>
                </a:solidFill>
                <a:latin typeface="Calibri"/>
              </a:rPr>
              <a:t>•  FSC enforcement capacity and KRX compliance culture differ from Japan's</a:t>
            </a:r>
          </a:p>
          <a:p>
            <a:pPr lvl="1" algn="l">
              <a:spcBef>
                <a:spcPts val="300"/>
              </a:spcBef>
            </a:pPr>
            <a:r>
              <a:rPr sz="1200" b="0" i="1">
                <a:solidFill>
                  <a:srgbClr val="595959"/>
                </a:solidFill>
                <a:latin typeface="Calibri"/>
              </a:rPr>
              <a:t>•  Order-of-magnitude policy benchmark  ·  NOT a forecast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
            <a:ext cx="11155680" cy="685800"/>
          </a:xfrm>
          <a:prstGeom prst="rect">
            <a:avLst/>
          </a:prstGeom>
          <a:noFill/>
        </p:spPr>
        <p:txBody>
          <a:bodyPr wrap="square">
            <a:spAutoFit/>
          </a:bodyPr>
          <a:lstStyle/>
          <a:p>
            <a:pPr algn="l"/>
            <a:r>
              <a:rPr sz="2800" b="1">
                <a:solidFill>
                  <a:srgbClr val="000000"/>
                </a:solidFill>
                <a:latin typeface="Calibri"/>
              </a:rPr>
              <a:t>Conclusion</a:t>
            </a:r>
          </a:p>
        </p:txBody>
      </p:sp>
      <p:sp>
        <p:nvSpPr>
          <p:cNvPr id="4" name="Rectangle 3"/>
          <p:cNvSpPr/>
          <p:nvPr/>
        </p:nvSpPr>
        <p:spPr>
          <a:xfrm>
            <a:off x="0" y="6748272"/>
            <a:ext cx="12188952"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34440"/>
            <a:ext cx="11155680" cy="5349240"/>
          </a:xfrm>
          <a:prstGeom prst="rect">
            <a:avLst/>
          </a:prstGeom>
          <a:noFill/>
        </p:spPr>
        <p:txBody>
          <a:bodyPr wrap="square">
            <a:spAutoFit/>
          </a:bodyPr>
          <a:lstStyle/>
          <a:p>
            <a:endParaRPr/>
          </a:p>
          <a:p>
            <a:pPr algn="l">
              <a:spcBef>
                <a:spcPts val="800"/>
              </a:spcBef>
            </a:pPr>
            <a:r>
              <a:rPr sz="1600" b="1" i="0">
                <a:solidFill>
                  <a:srgbClr val="000000"/>
                </a:solidFill>
                <a:latin typeface="Calibri"/>
              </a:rPr>
              <a:t>What we document</a:t>
            </a:r>
          </a:p>
          <a:p>
            <a:pPr lvl="1" algn="l">
              <a:spcBef>
                <a:spcPts val="200"/>
              </a:spcBef>
            </a:pPr>
            <a:r>
              <a:rPr sz="1300" b="0" i="0">
                <a:solidFill>
                  <a:srgbClr val="000000"/>
                </a:solidFill>
                <a:latin typeface="Calibri"/>
              </a:rPr>
              <a:t>•  KOSPI P/B averages –0.177× below TOPIX (t = –3.23) and –0.601× below MSCI EM (t = –10.30) over 2004–2024</a:t>
            </a:r>
          </a:p>
          <a:p>
            <a:pPr lvl="1" algn="l">
              <a:spcBef>
                <a:spcPts val="200"/>
              </a:spcBef>
            </a:pPr>
            <a:r>
              <a:rPr sz="1300" b="0" i="0">
                <a:solidFill>
                  <a:srgbClr val="000000"/>
                </a:solidFill>
                <a:latin typeface="Calibri"/>
              </a:rPr>
              <a:t>•  Discount has widened post-2023: KOSPI ≈ 0.93× vs. TOPIX ≈ 1.36×</a:t>
            </a:r>
          </a:p>
          <a:p>
            <a:pPr lvl="1" algn="l">
              <a:spcBef>
                <a:spcPts val="200"/>
              </a:spcBef>
            </a:pPr>
            <a:r>
              <a:rPr sz="1300" b="0" i="0">
                <a:solidFill>
                  <a:srgbClr val="000000"/>
                </a:solidFill>
                <a:latin typeface="Calibri"/>
              </a:rPr>
              <a:t>•  Three structural channels: chaebol opacity, minority-shareholder recourse deficit, geopolitical risk premium</a:t>
            </a:r>
          </a:p>
          <a:p>
            <a:pPr algn="l">
              <a:spcBef>
                <a:spcPts val="800"/>
              </a:spcBef>
            </a:pPr>
            <a:r>
              <a:rPr sz="1600" b="1" i="0">
                <a:solidFill>
                  <a:srgbClr val="000000"/>
                </a:solidFill>
                <a:latin typeface="Calibri"/>
              </a:rPr>
              <a:t>What we find empirically</a:t>
            </a:r>
          </a:p>
          <a:p>
            <a:pPr lvl="1" algn="l">
              <a:spcBef>
                <a:spcPts val="200"/>
              </a:spcBef>
            </a:pPr>
            <a:r>
              <a:rPr sz="1300" b="0" i="0">
                <a:solidFill>
                  <a:srgbClr val="000000"/>
                </a:solidFill>
                <a:latin typeface="Calibri"/>
              </a:rPr>
              <a:t>•  Event windows show large spread movements around Japan's reform dates; not causally identified</a:t>
            </a:r>
          </a:p>
          <a:p>
            <a:pPr lvl="1" algn="l">
              <a:spcBef>
                <a:spcPts val="200"/>
              </a:spcBef>
            </a:pPr>
            <a:r>
              <a:rPr sz="1300" b="0" i="0">
                <a:solidFill>
                  <a:srgbClr val="000000"/>
                </a:solidFill>
                <a:latin typeface="Calibri"/>
              </a:rPr>
              <a:t>•  Panel OLS reform interactions: p-values 0.625, 0.375, 0.500 — noisy, not robust evidence of causal re-rating</a:t>
            </a:r>
          </a:p>
          <a:p>
            <a:pPr lvl="1" algn="l">
              <a:spcBef>
                <a:spcPts val="200"/>
              </a:spcBef>
            </a:pPr>
            <a:r>
              <a:rPr sz="1300" b="0" i="0">
                <a:solidFill>
                  <a:srgbClr val="000000"/>
                </a:solidFill>
                <a:latin typeface="Calibri"/>
              </a:rPr>
              <a:t>•  Synthetic control: RMSPE = 0.1451; full weight to MSCI EM Asia; post-reform gap fades rather than widens</a:t>
            </a:r>
          </a:p>
          <a:p>
            <a:pPr lvl="1" algn="l">
              <a:spcBef>
                <a:spcPts val="200"/>
              </a:spcBef>
            </a:pPr>
            <a:r>
              <a:rPr sz="1300" b="0" i="0">
                <a:solidFill>
                  <a:srgbClr val="000000"/>
                </a:solidFill>
                <a:latin typeface="Calibri"/>
              </a:rPr>
              <a:t>•  Geopolitical risk coefficient: –0.02 (t = –0.84, p = 0.40) — priced as structural level discount</a:t>
            </a:r>
          </a:p>
          <a:p>
            <a:pPr algn="l">
              <a:spcBef>
                <a:spcPts val="800"/>
              </a:spcBef>
            </a:pPr>
            <a:r>
              <a:rPr sz="1600" b="1" i="0">
                <a:solidFill>
                  <a:srgbClr val="000000"/>
                </a:solidFill>
                <a:latin typeface="Calibri"/>
              </a:rPr>
              <a:t>Directions for future research</a:t>
            </a:r>
          </a:p>
          <a:p>
            <a:pPr lvl="1" algn="l">
              <a:spcBef>
                <a:spcPts val="200"/>
              </a:spcBef>
            </a:pPr>
            <a:r>
              <a:rPr sz="1300" b="0" i="0">
                <a:solidFill>
                  <a:srgbClr val="000000"/>
                </a:solidFill>
                <a:latin typeface="Calibri"/>
              </a:rPr>
              <a:t>•  Firm-level chaebol governance panel to complement country-level time-series identification</a:t>
            </a:r>
          </a:p>
          <a:p>
            <a:pPr lvl="1" algn="l">
              <a:spcBef>
                <a:spcPts val="200"/>
              </a:spcBef>
            </a:pPr>
            <a:r>
              <a:rPr sz="1300" b="0" i="0">
                <a:solidFill>
                  <a:srgbClr val="000000"/>
                </a:solidFill>
                <a:latin typeface="Calibri"/>
              </a:rPr>
              <a:t>•  Event study of Korea's Value-Up Program as multi-year post-announcement data accumulate (2024–2026+)</a:t>
            </a:r>
          </a:p>
          <a:p>
            <a:pPr lvl="1" algn="l">
              <a:spcBef>
                <a:spcPts val="200"/>
              </a:spcBef>
            </a:pPr>
            <a:r>
              <a:rPr sz="1300" b="0" i="0">
                <a:solidFill>
                  <a:srgbClr val="000000"/>
                </a:solidFill>
                <a:latin typeface="Calibri"/>
              </a:rPr>
              <a:t>•  Cross-country extension: China A-shares, India, Gulf — do Korea's structural channels generalize?</a:t>
            </a:r>
          </a:p>
          <a:p>
            <a:pPr algn="l">
              <a:spcBef>
                <a:spcPts val="800"/>
              </a:spcBef>
            </a:pPr>
            <a:r>
              <a:rPr sz="1400" b="0" i="1">
                <a:solidFill>
                  <a:srgbClr val="595959"/>
                </a:solidFill>
                <a:latin typeface="Calibri"/>
              </a:rPr>
              <a:t>
Bottom line: The Korea Discount is persistent and statistically significant. Japan's governance reform experience provides useful policy benchmarks but does not, by itself, identify the valuation gain Korea would realize from adopting Japan-style reforms.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3732</Words>
  <Application>Microsoft Macintosh PowerPoint</Application>
  <PresentationFormat>Custom</PresentationFormat>
  <Paragraphs>271</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Daniel Jung</cp:lastModifiedBy>
  <cp:revision>2</cp:revision>
  <dcterms:created xsi:type="dcterms:W3CDTF">2013-01-27T09:14:16Z</dcterms:created>
  <dcterms:modified xsi:type="dcterms:W3CDTF">2026-04-21T21:10:28Z</dcterms:modified>
  <cp:category/>
</cp:coreProperties>
</file>