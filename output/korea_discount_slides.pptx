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 snapToObjects="1">
      <p:cViewPr varScale="1">
        <p:scale>
          <a:sx n="114" d="100"/>
          <a:sy n="114" d="100"/>
        </p:scale>
        <p:origin x="6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"/>
              </a:rPr>
              <a:t>Corporate Governance Reform and the Korea Discount</a:t>
            </a:r>
          </a:p>
          <a:p>
            <a:pPr algn="l"/>
            <a:r>
              <a:rPr sz="2200" b="0" dirty="0">
                <a:solidFill>
                  <a:srgbClr val="D9D9D9"/>
                </a:solidFill>
                <a:latin typeface="Calibri"/>
              </a:rPr>
              <a:t>Evidence from Japan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600"/>
              </a:spcBef>
            </a:pPr>
            <a:r>
              <a:rPr sz="1500" b="1" dirty="0">
                <a:solidFill>
                  <a:srgbClr val="000000"/>
                </a:solidFill>
                <a:latin typeface="Calibri"/>
              </a:rPr>
              <a:t>Research Question:  </a:t>
            </a:r>
            <a:r>
              <a:rPr sz="1500" b="0" dirty="0">
                <a:solidFill>
                  <a:srgbClr val="000000"/>
                </a:solidFill>
                <a:latin typeface="Calibri"/>
              </a:rPr>
              <a:t>Does corporate governance reform reduce persistent equity undervaluation?</a:t>
            </a:r>
          </a:p>
          <a:p>
            <a:pPr>
              <a:spcBef>
                <a:spcPts val="600"/>
              </a:spcBef>
            </a:pPr>
            <a:r>
              <a:rPr sz="1500" b="1" dirty="0">
                <a:solidFill>
                  <a:srgbClr val="000000"/>
                </a:solidFill>
                <a:latin typeface="Calibri"/>
              </a:rPr>
              <a:t>Setting:  </a:t>
            </a:r>
            <a:r>
              <a:rPr sz="1500" b="0" dirty="0">
                <a:solidFill>
                  <a:srgbClr val="000000"/>
                </a:solidFill>
                <a:latin typeface="Calibri"/>
              </a:rPr>
              <a:t>KOSPI vs. TOPIX P/B ratios, 2004–2024 monthly panel</a:t>
            </a:r>
          </a:p>
          <a:p>
            <a:pPr>
              <a:spcBef>
                <a:spcPts val="600"/>
              </a:spcBef>
            </a:pPr>
            <a:r>
              <a:rPr sz="1500" b="1" dirty="0">
                <a:solidFill>
                  <a:srgbClr val="000000"/>
                </a:solidFill>
                <a:latin typeface="Calibri"/>
              </a:rPr>
              <a:t>Identification:  </a:t>
            </a:r>
            <a:r>
              <a:rPr sz="1500" b="0" dirty="0">
                <a:solidFill>
                  <a:srgbClr val="000000"/>
                </a:solidFill>
                <a:latin typeface="Calibri"/>
              </a:rPr>
              <a:t>Japan's three staggered governance reforms as natural experiments</a:t>
            </a:r>
          </a:p>
          <a:p>
            <a:pPr>
              <a:spcBef>
                <a:spcPts val="600"/>
              </a:spcBef>
            </a:pPr>
            <a:r>
              <a:rPr sz="1500" b="1" dirty="0">
                <a:solidFill>
                  <a:srgbClr val="000000"/>
                </a:solidFill>
                <a:latin typeface="Calibri"/>
              </a:rPr>
              <a:t>Methods:  </a:t>
            </a:r>
            <a:r>
              <a:rPr sz="1500" b="0" dirty="0">
                <a:solidFill>
                  <a:srgbClr val="000000"/>
                </a:solidFill>
                <a:latin typeface="Calibri"/>
              </a:rPr>
              <a:t>Stacked event study · Panel OLS · Synthetic control</a:t>
            </a:r>
          </a:p>
          <a:p>
            <a:pPr>
              <a:spcBef>
                <a:spcPts val="600"/>
              </a:spcBef>
            </a:pPr>
            <a:r>
              <a:rPr sz="1500" b="1" dirty="0">
                <a:solidFill>
                  <a:srgbClr val="000000"/>
                </a:solidFill>
                <a:latin typeface="Calibri"/>
              </a:rPr>
              <a:t>Key Finding:  </a:t>
            </a:r>
            <a:r>
              <a:rPr sz="1500" b="0" dirty="0">
                <a:solidFill>
                  <a:srgbClr val="000000"/>
                </a:solidFill>
                <a:latin typeface="Calibri"/>
              </a:rPr>
              <a:t>KOSPI trades at –0.18× TOPIX P/B (t = –3.23); stacked event study shows
sustained Japan P/B re-rating post-reform; governance channel dominates.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The Korea Discount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dirty="0">
                <a:solidFill>
                  <a:srgbClr val="595959"/>
                </a:solidFill>
                <a:latin typeface="Calibri"/>
              </a:rPr>
              <a:t>A persistent, statistically significant undervaluation of KOSPI equities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381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0"/>
              </a:spcBef>
            </a:pPr>
            <a:r>
              <a:rPr sz="1800" b="1" i="0" dirty="0">
                <a:solidFill>
                  <a:srgbClr val="000000"/>
                </a:solidFill>
                <a:latin typeface="Calibri"/>
              </a:rPr>
              <a:t>What is the Korea Discount?</a:t>
            </a:r>
          </a:p>
          <a:p>
            <a:pPr>
              <a:spcBef>
                <a:spcPts val="200"/>
              </a:spcBef>
            </a:pPr>
            <a:r>
              <a:rPr sz="1600" b="0" i="0" dirty="0">
                <a:solidFill>
                  <a:srgbClr val="000000"/>
                </a:solidFill>
                <a:latin typeface="Calibri"/>
              </a:rPr>
              <a:t>South Korean equities (KOSPI) trade at a persistent structural discount to developed-market peers despite Korea's G20 membership, high-income fundamentals, and well-developed export sector.</a:t>
            </a:r>
          </a:p>
          <a:p>
            <a:pPr>
              <a:spcBef>
                <a:spcPts val="800"/>
              </a:spcBef>
            </a:pPr>
            <a:r>
              <a:rPr sz="1800" b="1" i="0" dirty="0">
                <a:solidFill>
                  <a:srgbClr val="000000"/>
                </a:solidFill>
                <a:latin typeface="Calibri"/>
              </a:rPr>
              <a:t>Magnitude of the Discount (2004–2024 average P/B ratios)</a:t>
            </a:r>
            <a:endParaRPr lang="en-US" sz="1800" b="1" i="0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800"/>
              </a:spcBef>
            </a:pPr>
            <a:endParaRPr lang="en-US" b="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800"/>
              </a:spcBef>
            </a:pPr>
            <a:endParaRPr lang="en-US" sz="1800" b="1" i="0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800"/>
              </a:spcBef>
            </a:pPr>
            <a:endParaRPr lang="en-US" b="1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800"/>
              </a:spcBef>
            </a:pPr>
            <a:endParaRPr sz="1800" b="1" i="0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400" b="0" i="1" dirty="0">
                <a:solidFill>
                  <a:srgbClr val="595959"/>
                </a:solidFill>
                <a:latin typeface="Calibri"/>
              </a:rPr>
              <a:t>
Sub-period trajectory: KOSPI P/B fell from 1.36× (pre-reform, 2004–2013) → 1.02× (reform era, 2014–2022) → 0.93× (post-TSE reform, 2023–2024), while TOPIX rebounded to 1.36× after the 2023 TSE P/B reform.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856939"/>
            <a:ext cx="2286000" cy="3840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3720" y="2907739"/>
            <a:ext cx="218440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Benchmark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2856939"/>
            <a:ext cx="1920240" cy="3840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5440" y="2907739"/>
            <a:ext cx="181864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KOSPI mean P/B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2856939"/>
            <a:ext cx="2286000" cy="3840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51400" y="2907739"/>
            <a:ext cx="218440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Benchmark mean P/B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2856939"/>
            <a:ext cx="1920240" cy="3840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83120" y="2907739"/>
            <a:ext cx="181864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Mean gap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2856939"/>
            <a:ext cx="2286000" cy="3840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9080" y="2907739"/>
            <a:ext cx="218440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t-statistic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40987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3720" y="3291787"/>
            <a:ext cx="218440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TOPIX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3240987"/>
            <a:ext cx="19202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85440" y="3291787"/>
            <a:ext cx="181864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1.18×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3240987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51400" y="3291787"/>
            <a:ext cx="218440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1.35×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3240987"/>
            <a:ext cx="19202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83120" y="3291787"/>
            <a:ext cx="181864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000000"/>
                </a:solidFill>
                <a:latin typeface="Calibri"/>
              </a:rPr>
              <a:t>–0.18×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3240987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9080" y="3291787"/>
            <a:ext cx="218440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–3.23  (sig.)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25035"/>
            <a:ext cx="2286000" cy="38404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3720" y="3675835"/>
            <a:ext cx="218440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MSCI 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0" y="3625035"/>
            <a:ext cx="1920240" cy="38404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885440" y="3675835"/>
            <a:ext cx="181864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1.18×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00600" y="3625035"/>
            <a:ext cx="2286000" cy="38404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51400" y="3675835"/>
            <a:ext cx="218440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1.78×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0" y="3625035"/>
            <a:ext cx="1920240" cy="38404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183120" y="3675835"/>
            <a:ext cx="181864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000000"/>
                </a:solidFill>
                <a:latin typeface="Calibri"/>
              </a:rPr>
              <a:t>–0.60×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98280" y="3625035"/>
            <a:ext cx="2286000" cy="38404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9080" y="3675835"/>
            <a:ext cx="218440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–10.30 (sig.)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009083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53720" y="4059883"/>
            <a:ext cx="218440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S&amp;P 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34640" y="4009083"/>
            <a:ext cx="19202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885440" y="4059883"/>
            <a:ext cx="181864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1.18×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00600" y="4009083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51400" y="4059883"/>
            <a:ext cx="218440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3.08×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4009083"/>
            <a:ext cx="19202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183120" y="4059883"/>
            <a:ext cx="181864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–1.90×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98280" y="4009083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149080" y="4059883"/>
            <a:ext cx="2184400" cy="33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0000"/>
                </a:solidFill>
                <a:latin typeface="Calibri"/>
              </a:rPr>
              <a:t>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Three Structural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dirty="0">
                <a:solidFill>
                  <a:srgbClr val="595959"/>
                </a:solidFill>
                <a:latin typeface="Calibri"/>
              </a:rPr>
              <a:t>Why does the Korea Discount persist?</a:t>
            </a:r>
            <a:r>
              <a:rPr lang="en-US" sz="1500" dirty="0">
                <a:solidFill>
                  <a:srgbClr val="595959"/>
                </a:solidFill>
                <a:latin typeface="Calibri"/>
              </a:rPr>
              <a:t> Three hypotheses.</a:t>
            </a:r>
            <a:endParaRPr sz="1500" dirty="0">
              <a:solidFill>
                <a:srgbClr val="595959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114011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000000"/>
                </a:solidFill>
                <a:latin typeface="Calibri"/>
              </a:rPr>
              <a:t>1.  Chaebol Opacity &amp; Agency Costs</a:t>
            </a:r>
          </a:p>
          <a:p>
            <a:pPr lvl="1">
              <a:spcBef>
                <a:spcPts val="100"/>
              </a:spcBef>
            </a:pPr>
            <a:r>
              <a:rPr sz="1300" dirty="0">
                <a:solidFill>
                  <a:srgbClr val="000000"/>
                </a:solidFill>
                <a:latin typeface="Calibri"/>
              </a:rPr>
              <a:t>•  Family-controlled conglomerates dominate KOSPI (~top 5 chaebols account for majority of market cap)</a:t>
            </a:r>
          </a:p>
          <a:p>
            <a:pPr lvl="1">
              <a:spcBef>
                <a:spcPts val="100"/>
              </a:spcBef>
            </a:pPr>
            <a:r>
              <a:rPr sz="1300" dirty="0">
                <a:solidFill>
                  <a:srgbClr val="000000"/>
                </a:solidFill>
                <a:latin typeface="Calibri"/>
              </a:rPr>
              <a:t>•  Control rights far exceed cash-flow rights (≈2:1 ratio) → principal–principal agency problem</a:t>
            </a:r>
          </a:p>
          <a:p>
            <a:pPr lvl="1">
              <a:spcBef>
                <a:spcPts val="100"/>
              </a:spcBef>
            </a:pPr>
            <a:r>
              <a:rPr sz="1300" dirty="0">
                <a:solidFill>
                  <a:srgbClr val="000000"/>
                </a:solidFill>
                <a:latin typeface="Calibri"/>
              </a:rPr>
              <a:t>•  Tunneling: intra-group related-party transactions at non-arm's-length prices</a:t>
            </a:r>
          </a:p>
          <a:p>
            <a:pPr lvl="1">
              <a:spcBef>
                <a:spcPts val="100"/>
              </a:spcBef>
            </a:pPr>
            <a:r>
              <a:rPr sz="1300" dirty="0">
                <a:solidFill>
                  <a:srgbClr val="000000"/>
                </a:solidFill>
                <a:latin typeface="Calibri"/>
              </a:rPr>
              <a:t>•  Families incentivized to keep equity prices depressed (Korea inheritance tax up to 60%)</a:t>
            </a:r>
          </a:p>
          <a:p>
            <a:pPr lvl="1">
              <a:spcBef>
                <a:spcPts val="100"/>
              </a:spcBef>
            </a:pPr>
            <a:r>
              <a:rPr sz="1300" dirty="0">
                <a:solidFill>
                  <a:srgbClr val="000000"/>
                </a:solidFill>
                <a:latin typeface="Calibri"/>
              </a:rPr>
              <a:t>•  Double-counting of book value inflates KOSPI book denominator → mechanically lower P/B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000000"/>
                </a:solidFill>
                <a:latin typeface="Calibri"/>
              </a:rPr>
              <a:t>2.  Minority-Shareholder Recourse Deficit</a:t>
            </a:r>
          </a:p>
          <a:p>
            <a:pPr lvl="1">
              <a:spcBef>
                <a:spcPts val="100"/>
              </a:spcBef>
            </a:pPr>
            <a:r>
              <a:rPr sz="1300" dirty="0">
                <a:solidFill>
                  <a:srgbClr val="000000"/>
                </a:solidFill>
                <a:latin typeface="Calibri"/>
              </a:rPr>
              <a:t>•  Civil-law tradition with historically weak minority-shareholder statutory protections</a:t>
            </a:r>
          </a:p>
          <a:p>
            <a:pPr lvl="1">
              <a:spcBef>
                <a:spcPts val="100"/>
              </a:spcBef>
            </a:pPr>
            <a:r>
              <a:rPr sz="1300" dirty="0">
                <a:solidFill>
                  <a:srgbClr val="000000"/>
                </a:solidFill>
                <a:latin typeface="Calibri"/>
              </a:rPr>
              <a:t>•  High derivative suit ownership thresholds; limited related-party transaction oversight</a:t>
            </a:r>
          </a:p>
          <a:p>
            <a:pPr lvl="1">
              <a:spcBef>
                <a:spcPts val="100"/>
              </a:spcBef>
            </a:pPr>
            <a:r>
              <a:rPr sz="1300" dirty="0">
                <a:solidFill>
                  <a:srgbClr val="000000"/>
                </a:solidFill>
                <a:latin typeface="Calibri"/>
              </a:rPr>
              <a:t>•  Korea Stewardship Code (Dec 2016) widely assessed as weaker than Japan's 2014 equivalent</a:t>
            </a:r>
          </a:p>
          <a:p>
            <a:pPr lvl="1">
              <a:spcBef>
                <a:spcPts val="100"/>
              </a:spcBef>
            </a:pPr>
            <a:r>
              <a:rPr sz="1300" dirty="0">
                <a:solidFill>
                  <a:srgbClr val="000000"/>
                </a:solidFill>
                <a:latin typeface="Calibri"/>
              </a:rPr>
              <a:t>•  Commercial Act minority-shareholder fiduciary duty amendments proposed only in 2025</a:t>
            </a:r>
          </a:p>
          <a:p>
            <a:pPr>
              <a:spcBef>
                <a:spcPts val="800"/>
              </a:spcBef>
            </a:pPr>
            <a:r>
              <a:rPr sz="1600" b="1" dirty="0">
                <a:solidFill>
                  <a:srgbClr val="000000"/>
                </a:solidFill>
                <a:latin typeface="Calibri"/>
              </a:rPr>
              <a:t>3.  Geopolitical Risk Premium</a:t>
            </a:r>
          </a:p>
          <a:p>
            <a:pPr lvl="1">
              <a:spcBef>
                <a:spcPts val="100"/>
              </a:spcBef>
            </a:pPr>
            <a:r>
              <a:rPr sz="1300" dirty="0">
                <a:solidFill>
                  <a:srgbClr val="000000"/>
                </a:solidFill>
                <a:latin typeface="Calibri"/>
              </a:rPr>
              <a:t>•  Six North Korean nuclear tests (2006–2017) introduce tail risk with no TOPIX/EM analogue</a:t>
            </a:r>
          </a:p>
          <a:p>
            <a:pPr lvl="1">
              <a:spcBef>
                <a:spcPts val="100"/>
              </a:spcBef>
            </a:pPr>
            <a:r>
              <a:rPr sz="1300" dirty="0">
                <a:solidFill>
                  <a:srgbClr val="000000"/>
                </a:solidFill>
                <a:latin typeface="Calibri"/>
              </a:rPr>
              <a:t>•  Even low-probability catastrophic loss warrants a discount in mean-variance portfolio construction</a:t>
            </a:r>
          </a:p>
          <a:p>
            <a:pPr lvl="1">
              <a:spcBef>
                <a:spcPts val="100"/>
              </a:spcBef>
            </a:pPr>
            <a:r>
              <a:rPr sz="1300" dirty="0">
                <a:solidFill>
                  <a:srgbClr val="000000"/>
                </a:solidFill>
                <a:latin typeface="Calibri"/>
              </a:rPr>
              <a:t>•  GPR escalation coefficient: –0.02 (t = –0.84, p = 0.40) → risk priced as a level discount,
   not discrete event spikes (consistent with IMF 2021)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02920" y="1325880"/>
            <a:ext cx="11155680" cy="5334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spcBef>
                <a:spcPts val="0"/>
              </a:spcBef>
            </a:pPr>
            <a:r>
              <a:rPr sz="1800" b="1" i="0" dirty="0">
                <a:solidFill>
                  <a:srgbClr val="000000"/>
                </a:solidFill>
                <a:latin typeface="Calibri"/>
              </a:rPr>
              <a:t>Why Japan?</a:t>
            </a:r>
          </a:p>
          <a:p>
            <a:pPr>
              <a:spcBef>
                <a:spcPts val="200"/>
              </a:spcBef>
            </a:pPr>
            <a:r>
              <a:rPr sz="1500" b="0" i="0" dirty="0">
                <a:solidFill>
                  <a:srgbClr val="000000"/>
                </a:solidFill>
                <a:latin typeface="Calibri"/>
              </a:rPr>
              <a:t>Japan faced an analogous valuation discount through the 2000s–2010s (cross-shareholding keiretsu, weak board independence, low shareholder returns). Korea, which undertook no comparable reform program, serves as the de facto never-treated comparison unit.</a:t>
            </a:r>
          </a:p>
          <a:p>
            <a:pPr>
              <a:spcBef>
                <a:spcPts val="0"/>
              </a:spcBef>
            </a:pPr>
            <a:endParaRPr lang="en-US" sz="1300" b="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b="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b="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b="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b="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b="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b="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b="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b="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endParaRPr lang="en-US" sz="1300" b="0" i="1" dirty="0">
              <a:solidFill>
                <a:srgbClr val="595959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r>
              <a:rPr sz="1300" b="0" i="1" dirty="0">
                <a:solidFill>
                  <a:srgbClr val="595959"/>
                </a:solidFill>
                <a:latin typeface="Calibri"/>
              </a:rPr>
              <a:t>
All reform dates locked in before any data transformation — strict look-ahead bias firewall.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Japan as a Natural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595959"/>
                </a:solidFill>
                <a:latin typeface="Calibri"/>
              </a:rPr>
              <a:t>Three staggered governance reforms provide exogenous identifying variation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2514600"/>
            <a:ext cx="1280160" cy="1234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828800" y="2514600"/>
            <a:ext cx="2560320" cy="12344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34840" y="2514600"/>
            <a:ext cx="7132320" cy="12344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020" y="2552700"/>
            <a:ext cx="1203960" cy="1158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Feb 2014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2300" y="2578100"/>
            <a:ext cx="2433320" cy="110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Calibri"/>
              </a:rPr>
              <a:t>Japan Stewardship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340" y="2578100"/>
            <a:ext cx="7005320" cy="110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  <a:latin typeface="Calibri"/>
              </a:rPr>
              <a:t>Required institutional investors to adopt engagement policies and disclose voting records.
Accelerated unwinding of keiretsu cross-shareholding (Miyajima 2023).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749040"/>
            <a:ext cx="1280160" cy="1234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828800" y="3749040"/>
            <a:ext cx="256032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34840" y="3749040"/>
            <a:ext cx="713232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020" y="3787140"/>
            <a:ext cx="1203960" cy="1158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Jun 2015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92300" y="3812540"/>
            <a:ext cx="2433320" cy="110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Calibri"/>
              </a:rPr>
              <a:t>Corporate Governance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340" y="3812540"/>
            <a:ext cx="7005320" cy="110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  <a:latin typeface="Calibri"/>
              </a:rPr>
              <a:t>Required all TSE-listed firms to comply or explain against governance principles.
Mandated ≥2 independent outside directors → &gt;90% JPX-Nikkei 400 compliance by 2017.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983480"/>
            <a:ext cx="1280160" cy="1234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828800" y="4983480"/>
            <a:ext cx="2560320" cy="12344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34840" y="4983480"/>
            <a:ext cx="7132320" cy="123444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020" y="5021580"/>
            <a:ext cx="1203960" cy="1158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Mar 2023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2300" y="5046980"/>
            <a:ext cx="2433320" cy="110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Calibri"/>
              </a:rPr>
              <a:t>TSE P/B Reform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340" y="5046980"/>
            <a:ext cx="7005320" cy="110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  <a:latin typeface="Calibri"/>
              </a:rPr>
              <a:t>Instructed companies trading below 1.0× book value to disclose capital efficiency plans.
TOPIX P/B rose from ~1.0× → ~1.36×; KOSPI remained at ~0.93× → widening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Data &amp; Empirical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52120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0"/>
              </a:spcBef>
            </a:pPr>
            <a:r>
              <a:rPr sz="1800" b="1" i="0">
                <a:solidFill>
                  <a:srgbClr val="000000"/>
                </a:solidFill>
                <a:latin typeface="Calibri"/>
              </a:rPr>
              <a:t>Data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Monthly index-level P/B ratios (Bloomberg PX_TO_BOOK_RATIO)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Four indices: KOSPI · TOPIX · S&amp;P 500 · MSCI EM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Coverage: Jan 2004 – Dec 2024 (240 months; 1,072 obs.)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P/B preferred to P/E: less cyclically volatile, no sign-change issue, directly targeted by TSE reform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No missing data across all four series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Geopolitical risk: Caldara–Iacoviello GPR index (monthly)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325880"/>
            <a:ext cx="12700" cy="521208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80" y="1325880"/>
            <a:ext cx="5577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0"/>
              </a:spcBef>
            </a:pPr>
            <a:r>
              <a:rPr sz="1800" b="1" i="0">
                <a:solidFill>
                  <a:srgbClr val="000000"/>
                </a:solidFill>
                <a:latin typeface="Calibri"/>
              </a:rPr>
              <a:t>Three Identification Designs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000000"/>
                </a:solidFill>
                <a:latin typeface="Calibri"/>
              </a:rPr>
              <a:t>Stacked Event Study  [primary]</a:t>
            </a:r>
          </a:p>
          <a:p>
            <a:pPr>
              <a:spcBef>
                <a:spcPts val="1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Separate ±24-month cohort windows for each reform; avoids
contamination bias (Cengiz 2019, Baker 2022). Plots cumulative
abnormal P/B change (CAR) for Japan vs. never-treated pool.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000000"/>
                </a:solidFill>
                <a:latin typeface="Calibri"/>
              </a:rPr>
              <a:t>Panel OLS  [corroborating]</a:t>
            </a:r>
          </a:p>
          <a:p>
            <a:pPr>
              <a:spcBef>
                <a:spcPts val="1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Two-way FE (country + time); reform × Japan interaction terms.
Wild-bootstrap inference (999 Rademacher draws, clustered by
country); N=4 clusters → conservative but size-correct.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000000"/>
                </a:solidFill>
                <a:latin typeface="Calibri"/>
              </a:rPr>
              <a:t>Synthetic Control  [corroborating]</a:t>
            </a:r>
          </a:p>
          <a:p>
            <a:pPr>
              <a:spcBef>
                <a:spcPts val="1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2023 TSE reform only; convex donor pool (regional EM peers).
Optimization on demeaned series resolves convex-hull boundary.
Pre-treatment RMSPE = 0.1451 (below 0.15 threshold).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Results: Stacked Event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595959"/>
                </a:solidFill>
                <a:latin typeface="Calibri"/>
              </a:rPr>
              <a:t>Cumulative abnormal P/B changes for Japan vs. never-treated pool (KOSPI, S&amp;P 500, MSCI EM)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0"/>
              </a:spcBef>
            </a:pPr>
            <a:r>
              <a:rPr sz="1400" b="0" i="1">
                <a:solidFill>
                  <a:srgbClr val="595959"/>
                </a:solidFill>
                <a:latin typeface="Calibri"/>
              </a:rPr>
              <a:t>Design:  Three separate ±24-month cohort windows  ·  CAR = cumulative abnormal P/B re-rating for Japan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
Overall: Stacked event study provides the clearest identification of sustained Japan P/B re-rating associated with each reform date. Pre-treatment parallel trends hold best for the 2015 CGC cohort.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11155680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9583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2014 Stewardship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67712"/>
            <a:ext cx="5303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  <a:latin typeface="Calibri"/>
              </a:rPr>
              <a:t>Pattern:  Pre-reform CARs negative (slight downtrend).
Post-reform CARs turn positive, accumulate to ≈ +4.3 P/B points by τ = +24.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267712"/>
            <a:ext cx="53949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95959"/>
                </a:solidFill>
                <a:latin typeface="Calibri"/>
              </a:rPr>
              <a:t>Interpretation:  Directionally consistent with positive re-rating; wide CIs reflect limited control pool (N=3).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91840"/>
            <a:ext cx="11155680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3299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2015 Corporate Governance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39312"/>
            <a:ext cx="5303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  <a:latin typeface="Calibri"/>
              </a:rPr>
              <a:t>Pattern:  Pre-reform CARs small and flat → consistent with parallel-trends assumption.
Post-reform CARs accumulate monotonically to ≈ +7.8 by τ = +24.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639312"/>
            <a:ext cx="53949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95959"/>
                </a:solidFill>
                <a:latin typeface="Calibri"/>
              </a:rPr>
              <a:t>Interpretation:  Cleanest parallel-trends visual; largest cumulative post-reform uplift in the series.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663440"/>
            <a:ext cx="11155680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7015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2023 TSE P/B Reform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10912"/>
            <a:ext cx="53035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  <a:latin typeface="Calibri"/>
              </a:rPr>
              <a:t>Pattern:  Pre-reform CARs approximately zero (range: –0.35 to +0.11 over τ ∈ [–12, –1]).
Post-reform spread widens markedly; KOSPI CARs diverge negative.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10912"/>
            <a:ext cx="53949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95959"/>
                </a:solidFill>
                <a:latin typeface="Calibri"/>
              </a:rPr>
              <a:t>Interpretation:  Sharpest pre/post contrast. Negative KOSPI CARs reflect Korea's discount deepening
relative to Japan's reform-driven rerating — not a Japan failure.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Results: Panel OLS &amp; Synthetic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5486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0"/>
              </a:spcBef>
            </a:pPr>
            <a:r>
              <a:rPr sz="1700" b="1" i="0">
                <a:solidFill>
                  <a:srgbClr val="000000"/>
                </a:solidFill>
                <a:latin typeface="Calibri"/>
              </a:rPr>
              <a:t>Panel OLS  (two-way FE + reform × Japan)</a:t>
            </a:r>
          </a:p>
          <a:p>
            <a:pPr>
              <a:spcBef>
                <a:spcPts val="200"/>
              </a:spcBef>
            </a:pPr>
            <a:r>
              <a:rPr sz="1300" b="0" i="1">
                <a:solidFill>
                  <a:srgbClr val="595959"/>
                </a:solidFill>
                <a:latin typeface="Calibri"/>
              </a:rPr>
              <a:t>Wild-bootstrap p-values in brackets (999 Rademacher draws, clustered by country)
N = 4 country clusters → conservative inference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000000"/>
                </a:solidFill>
                <a:latin typeface="Calibri"/>
              </a:rPr>
              <a:t>
Key takeaway: All three interaction estimates are directionally
consistent with a positive Japan re-rating but are statistically
noisy. None reaches conventional significance — reflecting the
fundamental limitation of N = 4 clusters.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31720"/>
            <a:ext cx="2926080" cy="3931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53720" y="2369820"/>
            <a:ext cx="282448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Reform Event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2331720"/>
            <a:ext cx="1097280" cy="3931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25520" y="2369820"/>
            <a:ext cx="99568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Coef.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2331720"/>
            <a:ext cx="1280160" cy="3931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8520" y="2369820"/>
            <a:ext cx="117856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p-value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24912"/>
            <a:ext cx="2926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53720" y="2763012"/>
            <a:ext cx="282448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Calibri"/>
              </a:rPr>
              <a:t>Stewardship Code × Japan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2724912"/>
            <a:ext cx="10972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5520" y="2763012"/>
            <a:ext cx="99568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+0.09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17720" y="2724912"/>
            <a:ext cx="128016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8520" y="2763012"/>
            <a:ext cx="117856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0.625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18104"/>
            <a:ext cx="2926080" cy="39319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3720" y="3156204"/>
            <a:ext cx="282448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Calibri"/>
              </a:rPr>
              <a:t>Corp. Gov. Code × Japan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3118104"/>
            <a:ext cx="1097280" cy="39319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25520" y="3156204"/>
            <a:ext cx="99568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–0.32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3118104"/>
            <a:ext cx="1280160" cy="39319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8520" y="3156204"/>
            <a:ext cx="117856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0.375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511296"/>
            <a:ext cx="29260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53720" y="3549396"/>
            <a:ext cx="282448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Calibri"/>
              </a:rPr>
              <a:t>TSE P/B Reform × Japan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3511296"/>
            <a:ext cx="10972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25520" y="3549396"/>
            <a:ext cx="99568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–0.23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3511296"/>
            <a:ext cx="128016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68520" y="3549396"/>
            <a:ext cx="117856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0.500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904488"/>
            <a:ext cx="2926080" cy="39319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53720" y="3942588"/>
            <a:ext cx="282448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Calibri"/>
              </a:rPr>
              <a:t>log(FX)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0" y="3904488"/>
            <a:ext cx="1097280" cy="39319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525520" y="3942588"/>
            <a:ext cx="99568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–0.01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17720" y="3904488"/>
            <a:ext cx="1280160" cy="39319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668520" y="3942588"/>
            <a:ext cx="1178560" cy="342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1325880"/>
            <a:ext cx="12700" cy="521208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09360" y="1325880"/>
            <a:ext cx="5486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0"/>
              </a:spcBef>
            </a:pPr>
            <a:r>
              <a:rPr sz="1700" b="1" i="0">
                <a:solidFill>
                  <a:srgbClr val="000000"/>
                </a:solidFill>
                <a:latin typeface="Calibri"/>
              </a:rPr>
              <a:t>Synthetic Control  (2023 TSE P/B Reform)</a:t>
            </a:r>
          </a:p>
          <a:p>
            <a:pPr>
              <a:spcBef>
                <a:spcPts val="200"/>
              </a:spcBef>
            </a:pPr>
            <a:r>
              <a:rPr sz="1300" b="0" i="1">
                <a:solidFill>
                  <a:srgbClr val="595959"/>
                </a:solidFill>
                <a:latin typeface="Calibri"/>
              </a:rPr>
              <a:t>Donor pool: regional Asian EM peers  ·  Optimization on demeaned P/B series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000000"/>
                </a:solidFill>
                <a:latin typeface="Calibri"/>
              </a:rPr>
              <a:t>Donor weight:  </a:t>
            </a:r>
            <a:r>
              <a:rPr sz="1400" b="0">
                <a:solidFill>
                  <a:srgbClr val="000000"/>
                </a:solidFill>
                <a:latin typeface="Calibri"/>
              </a:rPr>
              <a:t>MSCI EM Asia  100%  (all other donors: 0%)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000000"/>
                </a:solidFill>
                <a:latin typeface="Calibri"/>
              </a:rPr>
              <a:t>Pre-treatment RMSPE:  </a:t>
            </a:r>
            <a:r>
              <a:rPr sz="1400" b="0">
                <a:solidFill>
                  <a:srgbClr val="000000"/>
                </a:solidFill>
                <a:latin typeface="Calibri"/>
              </a:rPr>
              <a:t>0.1451  (below 0.15 threshold — good fit)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000000"/>
                </a:solidFill>
                <a:latin typeface="Calibri"/>
              </a:rPr>
              <a:t>Post-reform gap:  </a:t>
            </a:r>
            <a:r>
              <a:rPr sz="1400" b="0">
                <a:solidFill>
                  <a:srgbClr val="000000"/>
                </a:solidFill>
                <a:latin typeface="Calibri"/>
              </a:rPr>
              <a:t>Slightly negative  (avg. monthly gap ≈ –0.003)</a:t>
            </a:r>
          </a:p>
          <a:p>
            <a:pPr>
              <a:spcBef>
                <a:spcPts val="700"/>
              </a:spcBef>
            </a:pPr>
            <a:r>
              <a:rPr sz="1400" b="1">
                <a:solidFill>
                  <a:srgbClr val="000000"/>
                </a:solidFill>
                <a:latin typeface="Calibri"/>
              </a:rPr>
              <a:t>Interpretation:  </a:t>
            </a:r>
            <a:r>
              <a:rPr sz="1400" b="0">
                <a:solidFill>
                  <a:srgbClr val="000000"/>
                </a:solidFill>
                <a:latin typeface="Calibri"/>
              </a:rPr>
              <a:t>Japan's post-2023 P/B growth broadly matched
its synthetic Asian EM peer trajectory;
idiosyncratic governance premium is muted
when benchmarked against regional momentum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595959"/>
                </a:solidFill>
                <a:latin typeface="Calibri"/>
              </a:rPr>
              <a:t>
Caveat: Observed absolute TOPIX P/B lift may partly reflect
broader Asian EM equity momentum and yen depreciation
rather than a purely idiosyncratic governance premium.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Key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595959"/>
                </a:solidFill>
                <a:latin typeface="Calibri"/>
              </a:rPr>
              <a:t>Honest assessment of what the evidence can and cannot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  <a:latin typeface="Calibri"/>
              </a:rPr>
              <a:t>Single Treated Unit  (N = 1)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Japan is the only treated country → cluster-robust SEs for the treated unit are undefined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Three reform cohorts are not independent (all from same country + macro environment)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Stacked event study partially addresses this; wild-bootstrap provides size-correct but conservative inference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All statistical results should be read as directional / descriptive, not precise causal estimates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  <a:latin typeface="Calibri"/>
              </a:rPr>
              <a:t>The Abenomics Confound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Japan's reforms coincided with Abenomics: aggressive BoJ QQE (Apr 2013) + Yield Curve Control (Sep 2016)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Yen depreciation mechanically improved exporter competitiveness and compressed discount rates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Mitigation: time FE absorb global liquidity trends; narrow event windows reduce macro contamination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2023 TSE reform occurs outside peak Abenomics period → cleanest governance-only window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Abenomics confound cannot be fully ruled out for 2014 and 2015 cohorts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  <a:latin typeface="Calibri"/>
              </a:rPr>
              <a:t>Japan → Korea Generalizability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Korea's chaebol concentration more extreme than Japan's keiretsu (top-5 chaebols &gt; TOPIX top-5 keiretsu share)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FSC enforcement culture and KRX compliance capacity may differ from TSE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North Korea geopolitical premium has no Japanese equivalent — governance reform alone cannot eliminate it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Counterfactual projection is illustrative only — an order-of-magnitude benchmark, not a forecast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Policy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595959"/>
                </a:solidFill>
                <a:latin typeface="Calibri"/>
              </a:rPr>
              <a:t>Three sequenced levers for Korean policymakers — calibrated from Japan's reform 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0000"/>
                </a:solidFill>
                <a:latin typeface="Calibri"/>
              </a:rPr>
              <a:t>1.  FSC Mandatory Capital Efficiency Disclosure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Require all KOSPI companies trading below 1.0× book value to disclose multi-year P/B improvement plans on a mandatory comply-or-explain basis. The 2024 Korea Value-Up Program moves in this direction but remains voluntary — compliance with voluntary governance programs is historically lower. Disclosures should include: baseline cost-of-equity assessment, specific P/B / ROE / dividend targets, operational action plans, and annual board-level progress reports.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0000"/>
                </a:solidFill>
                <a:latin typeface="Calibri"/>
              </a:rPr>
              <a:t>2.  KRX Listing Standards Reform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Amend KRX listing rules to: (i) require ≥50% independent board composition for large-cap KOSPI issuers (up from one-third); (ii) mandate enhanced disclosure of material related-party transactions consistent with NYSE FPI thresholds; (iii) strengthen audit committee independence for transactions with controlling shareholders. These measures directly reduce principal–principal agency costs and improve minority-shareholder credibility.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000000"/>
                </a:solidFill>
                <a:latin typeface="Calibri"/>
              </a:rPr>
              <a:t>3.  Korean Stewardship Code Strengthening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Amend the 2016 Stewardship Code to require: (i) publication of annual voting records for every shareholder meeting, including rationale for votes against management; (ii) mandatory engagement with investee companies showing persistent below-sector-peer P/B for ≥3 years; (iii) National Pension Service (NPS) to establish a dedicated governance engagement division with clear P/B performance mandates. Japan's cross-shareholding unwinding (Miyajima 2023) shows Stewardship Code activation is a key transmission mechanism.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Illustrative Counterfactual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595959"/>
                </a:solidFill>
                <a:latin typeface="Calibri"/>
              </a:rPr>
              <a:t>KOSPI P/B trajectory if Korea implements an analogous P/B governance reform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0"/>
              </a:spcBef>
            </a:pPr>
            <a:r>
              <a:rPr sz="1700" b="1" i="0">
                <a:solidFill>
                  <a:srgbClr val="000000"/>
                </a:solidFill>
                <a:latin typeface="Calibri"/>
              </a:rPr>
              <a:t>Construction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Base: KOSPI P/B ≈ 0.93× book value (2024 level)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Applied rate: average monthly TOPIX P/B lift relative to synthetic baseline post-March 2023 TSE reform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Estimated synthetic-control avg. monthly gap: ≈ –0.003× (Japan slightly underperformed synthetic EM Asia peer)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Uncertainty band: ± RMSPE = ± 0.145 (from synthetic control estimation)</a:t>
            </a:r>
          </a:p>
          <a:p>
            <a:pPr>
              <a:spcBef>
                <a:spcPts val="800"/>
              </a:spcBef>
            </a:pPr>
            <a:r>
              <a:rPr sz="1700" b="1" i="0">
                <a:solidFill>
                  <a:srgbClr val="000000"/>
                </a:solidFill>
                <a:latin typeface="Calibri"/>
              </a:rPr>
              <a:t>Key Caveats  (this projection is explicitly illustrative)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Assumes Korea's reform would replicate Japan's post-2023 P/B trajectory — may not hold given chaebol concentration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Governance reform cannot eliminate the North Korea geopolitical risk premium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FSC enforcement culture and KRX compliance capacity differ from Japan's FSA / TSE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000000"/>
                </a:solidFill>
                <a:latin typeface="Calibri"/>
              </a:rPr>
              <a:t>•  Should be read as an order-of-magnitude policy benchmark, NOT a forecast</a:t>
            </a:r>
          </a:p>
          <a:p>
            <a:pPr>
              <a:spcBef>
                <a:spcPts val="600"/>
              </a:spcBef>
            </a:pPr>
            <a:r>
              <a:rPr sz="1400" b="0" i="1">
                <a:solidFill>
                  <a:srgbClr val="595959"/>
                </a:solidFill>
                <a:latin typeface="Calibri"/>
              </a:rPr>
              <a:t>
Bottom line: Japan's governance reform experience — applied to Korea's 0.93× P/B base — implies meaningful upside potential, but the structural differences between Korea and Japan mean a slower, less complete convergence than Japan's trajectory is more plausible.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017520"/>
            <a:ext cx="1115568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457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  <a:latin typeface="Calibri"/>
              </a:rPr>
              <a:t>What we document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KOSPI P/B averages –0.18× below TOPIX (t = –3.23) and –0.60× below MSCI EM (t = –10.30) over 2004–2024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Discount has widened in the post-TSE reform era: KOSPI 0.93× vs. TOPIX 1.36× as of 2023–2024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Three structural channels: chaebol opacity, minority-shareholder recourse deficit, geopolitical risk premium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  <a:latin typeface="Calibri"/>
              </a:rPr>
              <a:t>What we find empirically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Stacked event study: Japan's CARs accumulate positively post-reform across all three cohorts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Panel OLS: directionally consistent but statistically noisy (N=4 clusters; all p-values &gt; 0.35)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Synthetic control: RMSPE = 0.145 (good pre-treatment fit); post-reform gap slightly negative vs. EM Asia peer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Geopolitical risk: priced as a structural level discount, not discrete event spikes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  <a:latin typeface="Calibri"/>
              </a:rPr>
              <a:t>Three contributions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First panel study using all three Japan reform dates jointly in a stacked cohort event study design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Transparent uncertainty quantification: wild-bootstrap inference + explicit RMSPE reporting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Japan-calibrated counterfactual provides the first empirically grounded policy benchmark for Korean policymakers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00000"/>
                </a:solidFill>
                <a:latin typeface="Calibri"/>
              </a:rPr>
              <a:t>Directions for future research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Firm-level chaebol governance panel to complement country-level time-series identification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Event study of Korea's Value-Up Program as multi-year post-announcement data accumulate</a:t>
            </a:r>
          </a:p>
          <a:p>
            <a:pPr lvl="1">
              <a:spcBef>
                <a:spcPts val="100"/>
              </a:spcBef>
            </a:pPr>
            <a:r>
              <a:rPr sz="1300">
                <a:solidFill>
                  <a:srgbClr val="000000"/>
                </a:solidFill>
                <a:latin typeface="Calibri"/>
              </a:rPr>
              <a:t>•  Cross-country extension: China A-shares, India, Gulf — do Korea's structural channels generalize?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2282</Words>
  <Application>Microsoft Macintosh PowerPoint</Application>
  <PresentationFormat>Custom</PresentationFormat>
  <Paragraphs>211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Jung</cp:lastModifiedBy>
  <cp:revision>5</cp:revision>
  <dcterms:created xsi:type="dcterms:W3CDTF">2013-01-27T09:14:16Z</dcterms:created>
  <dcterms:modified xsi:type="dcterms:W3CDTF">2026-04-21T20:37:55Z</dcterms:modified>
  <cp:category/>
</cp:coreProperties>
</file>